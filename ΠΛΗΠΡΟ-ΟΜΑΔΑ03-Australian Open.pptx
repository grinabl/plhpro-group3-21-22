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24"/>
  </p:notesMasterIdLst>
  <p:sldIdLst>
    <p:sldId id="313" r:id="rId2"/>
    <p:sldId id="315" r:id="rId3"/>
    <p:sldId id="324" r:id="rId4"/>
    <p:sldId id="333" r:id="rId5"/>
    <p:sldId id="335" r:id="rId6"/>
    <p:sldId id="336" r:id="rId7"/>
    <p:sldId id="337" r:id="rId8"/>
    <p:sldId id="338" r:id="rId9"/>
    <p:sldId id="325" r:id="rId10"/>
    <p:sldId id="261" r:id="rId11"/>
    <p:sldId id="326" r:id="rId12"/>
    <p:sldId id="263" r:id="rId13"/>
    <p:sldId id="327" r:id="rId14"/>
    <p:sldId id="328" r:id="rId15"/>
    <p:sldId id="329" r:id="rId16"/>
    <p:sldId id="339" r:id="rId17"/>
    <p:sldId id="340" r:id="rId18"/>
    <p:sldId id="330" r:id="rId19"/>
    <p:sldId id="331" r:id="rId20"/>
    <p:sldId id="341" r:id="rId21"/>
    <p:sldId id="332" r:id="rId22"/>
    <p:sldId id="268" r:id="rId23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hn" initials="J" lastIdx="1" clrIdx="0">
    <p:extLst>
      <p:ext uri="{19B8F6BF-5375-455C-9EA6-DF929625EA0E}">
        <p15:presenceInfo xmlns:p15="http://schemas.microsoft.com/office/powerpoint/2012/main" userId="Joh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1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B478AD-AFBA-40F5-B1CF-1D6C5E4F13D7}" type="datetimeFigureOut">
              <a:rPr lang="el-GR" smtClean="0"/>
              <a:t>25/6/2022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822A6-AE60-4EDD-BBD0-E498BF94B64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58631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2CD34A-B69B-4D30-8B50-08EB87DE035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1632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9AF744E-472F-40C0-ACDC-15A10F1173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D99C4E30-9441-4E5A-928A-B2531AD727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311EF9B8-53C2-4471-8121-DB5BC3627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ABC23-E4BF-4D97-930B-805CF3F46795}" type="datetimeFigureOut">
              <a:rPr lang="el-GR" smtClean="0"/>
              <a:t>25/6/2022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A572D1CD-AA66-4DA9-A934-3ABE506ED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8FC89556-2A69-4596-B556-C0A6C0783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DC39C-820A-4884-8686-36CB0DB0024C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44481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3EA2D46-722D-415A-90AB-17B95B8D4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63453AA-3178-4EDD-AEB0-3D82A1EB7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D157199F-706E-4155-92E0-8657BD950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ABC23-E4BF-4D97-930B-805CF3F46795}" type="datetimeFigureOut">
              <a:rPr lang="el-GR" smtClean="0"/>
              <a:t>25/6/2022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96922A2-5ECA-468D-8192-D92CE900C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3CFBCE28-3545-4394-9EE3-85A8B60A9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DC39C-820A-4884-8686-36CB0DB0024C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8190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36294C5-F3F8-44F4-B721-A95CD526D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9CB67C57-2738-46E5-B28E-370D4055A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F96C862A-0E19-4467-B82A-C39ADFB39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ABC23-E4BF-4D97-930B-805CF3F46795}" type="datetimeFigureOut">
              <a:rPr lang="el-GR" smtClean="0"/>
              <a:t>25/6/2022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AD18225-C2D7-4181-A2D8-A41543A18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C4114811-7357-4B73-9C6B-1B7C4319D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DC39C-820A-4884-8686-36CB0DB0024C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17203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7E08DD0-A895-4CF3-9F06-EA502867E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A242A4A1-5D97-4B86-B70C-614F2A302B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EF699EFD-7686-4E90-80C6-821AF76461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B1CC5713-83AF-4925-B086-B439E4845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ABC23-E4BF-4D97-930B-805CF3F46795}" type="datetimeFigureOut">
              <a:rPr lang="el-GR" smtClean="0"/>
              <a:t>25/6/2022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C5A0CD5B-0E90-4D32-87D4-D3C36C479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C5B66FC4-DC82-47B0-BA1C-66504CFF8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DC39C-820A-4884-8686-36CB0DB0024C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736017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5CAA29F-A86E-4E39-A235-33F082A40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3BA5B6C5-1C87-40AC-A00F-929D49C3C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1ED4401A-EB6C-4269-9F5E-731EDAE86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61216144-224E-4890-8970-A4CE81385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60995BA1-9096-486F-9F6D-618A0DE7C4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98F726FC-7065-467E-AEB9-AB93C2665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ABC23-E4BF-4D97-930B-805CF3F46795}" type="datetimeFigureOut">
              <a:rPr lang="el-GR" smtClean="0"/>
              <a:t>25/6/2022</a:t>
            </a:fld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33AC9544-D741-4FB4-ACFF-FD6933256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EF69DA75-9F4C-4237-826F-A428E9DDC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DC39C-820A-4884-8686-36CB0DB0024C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99619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F21F047-8936-44F7-83A0-80CD33803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574D20F4-A659-447F-B282-F68D7089A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ABC23-E4BF-4D97-930B-805CF3F46795}" type="datetimeFigureOut">
              <a:rPr lang="el-GR" smtClean="0"/>
              <a:t>25/6/2022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0506F486-07EF-47A0-AA33-D3161246B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513C9C88-60AA-425C-BF68-670E9DD73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DC39C-820A-4884-8686-36CB0DB0024C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638005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295550FB-6981-4F80-98B4-4AB73744D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ABC23-E4BF-4D97-930B-805CF3F46795}" type="datetimeFigureOut">
              <a:rPr lang="el-GR" smtClean="0"/>
              <a:t>25/6/2022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B1FA9F0C-64D6-4811-BA60-640AAC419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2D87287-D415-4501-A5EA-5A16C0580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DC39C-820A-4884-8686-36CB0DB0024C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4861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D81CF5A-73A8-4E8E-9E18-F2A79B94B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A0FCBE73-C60B-42E9-8AA4-23687F6DB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026DA316-4DE1-4397-A7A5-21B162F7A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0B6A62F5-E933-43D3-99EE-E50D4AFD5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ABC23-E4BF-4D97-930B-805CF3F46795}" type="datetimeFigureOut">
              <a:rPr lang="el-GR" smtClean="0"/>
              <a:t>25/6/2022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1E29B234-946E-436C-B493-8EC78620A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B6303808-D89C-4318-B8B5-51308FE5C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DC39C-820A-4884-8686-36CB0DB0024C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86667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0D235E9-DDC8-4F8B-9644-D7FAAAD8A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DF4F1C08-240A-4C09-864B-7A76CA12CC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04C5D17D-6496-4697-B51E-60A1F9429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8989D8CE-C638-4CA3-BACC-CE5218A1F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ABC23-E4BF-4D97-930B-805CF3F46795}" type="datetimeFigureOut">
              <a:rPr lang="el-GR" smtClean="0"/>
              <a:t>25/6/2022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94DD9399-8677-496D-918A-30AC49E41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869FA658-267E-4B61-A76C-BFBA1A6CD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DC39C-820A-4884-8686-36CB0DB0024C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34733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6187D52-A9C3-41FB-9713-491AC2968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8ED4EE50-809E-4118-B31A-D24F0932E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9B390C88-1D3C-499C-B063-695CDCD0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ABC23-E4BF-4D97-930B-805CF3F46795}" type="datetimeFigureOut">
              <a:rPr lang="el-GR" smtClean="0"/>
              <a:t>25/6/2022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2399E21-2946-4E4C-BFBA-C83C49905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4275367-6B8C-4FF9-B08A-C62D430A5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DC39C-820A-4884-8686-36CB0DB0024C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3140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9417D49D-D87A-4A58-B08A-5020D02E3E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9F696E15-33F8-49FC-89A5-00E2F94510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CBCE64A5-144C-44D2-8983-F93CDB7BB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ABC23-E4BF-4D97-930B-805CF3F46795}" type="datetimeFigureOut">
              <a:rPr lang="el-GR" smtClean="0"/>
              <a:t>25/6/2022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A5FF2444-DE28-4634-A534-D95AC4B12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A1A4D064-64F1-4894-8ABA-EB7E16752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DC39C-820A-4884-8686-36CB0DB0024C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48068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B031DAA8-6422-4C21-8B75-786A4CBB4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7346B014-610E-46A4-AA21-F49799BC9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D1DFBBDE-ADBE-4BCB-8728-439F38C7EE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ABC23-E4BF-4D97-930B-805CF3F46795}" type="datetimeFigureOut">
              <a:rPr lang="el-GR" smtClean="0"/>
              <a:t>25/6/2022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9CF0ABE3-BC0F-49C9-B126-FB5CC989D6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BBB73E38-621B-44A1-A9DC-5A7141D7D5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7DC39C-820A-4884-8686-36CB0DB0024C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2907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17151478/how-to-view-xmlhttprequest-object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286000"/>
            <a:ext cx="12192000" cy="16764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prstClr val="white"/>
                </a:solidFill>
              </a:rPr>
              <a:t>Australian Open (AUSOPEN)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0" y="4114800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l-GR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Ομάδα 03: Αλέξανδρος Νάκος (</a:t>
            </a:r>
            <a:r>
              <a:rPr lang="en-US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L), </a:t>
            </a:r>
            <a:r>
              <a:rPr lang="el-GR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Θέμης Γιαλαμάς, Ιωάννης Καραμπίνης</a:t>
            </a:r>
            <a:endParaRPr lang="en-US" sz="24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l-GR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Ακαδημαϊκός Υπεύθυνος</a:t>
            </a:r>
            <a:r>
              <a:rPr lang="en-US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Dr. </a:t>
            </a:r>
            <a:r>
              <a:rPr lang="el-GR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Νικόλαος Σαμαράς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37631" y="228600"/>
            <a:ext cx="71858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Ελληνικό Ανοικτό Πανεπιστήμιο</a:t>
            </a:r>
          </a:p>
          <a:p>
            <a:r>
              <a:rPr lang="el-GR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ΠΛΗΡΟΦΟΡΙΚΗ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6337" y="5121442"/>
            <a:ext cx="2895600" cy="167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>
              <a:solidFill>
                <a:prstClr val="white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917677" y="6424248"/>
            <a:ext cx="715169" cy="2592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>
              <a:solidFill>
                <a:prstClr val="white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83414" y="4995811"/>
            <a:ext cx="5577046" cy="167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Ομαδικό Προγραμματιστικό Project </a:t>
            </a:r>
          </a:p>
          <a:p>
            <a:pPr algn="ctr"/>
            <a:r>
              <a:rPr lang="el-GR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Ε.Θ.Ε ΠΛΗΠΡΟ</a:t>
            </a:r>
          </a:p>
        </p:txBody>
      </p:sp>
      <p:pic>
        <p:nvPicPr>
          <p:cNvPr id="10" name="Εικόνα 9">
            <a:extLst>
              <a:ext uri="{FF2B5EF4-FFF2-40B4-BE49-F238E27FC236}">
                <a16:creationId xmlns:a16="http://schemas.microsoft.com/office/drawing/2014/main" id="{5338BB31-3459-C850-5738-A6320079BE9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076"/>
          <a:stretch/>
        </p:blipFill>
        <p:spPr bwMode="auto">
          <a:xfrm>
            <a:off x="601049" y="231287"/>
            <a:ext cx="1431938" cy="13689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7600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C7E1FB2-9334-4259-AADA-B0EA72EC9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Στόχος Προγραμματιστικού </a:t>
            </a:r>
            <a:r>
              <a:rPr lang="en-US" dirty="0"/>
              <a:t>Project</a:t>
            </a:r>
            <a:endParaRPr lang="el-GR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4876245-B0A1-438C-A123-2875D726F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60876"/>
          </a:xfrm>
        </p:spPr>
        <p:txBody>
          <a:bodyPr>
            <a:normAutofit/>
          </a:bodyPr>
          <a:lstStyle/>
          <a:p>
            <a:r>
              <a:rPr lang="el-GR" dirty="0"/>
              <a:t>Υλοποίηση ολοκληρωμένου προγράμματος με </a:t>
            </a:r>
            <a:r>
              <a:rPr lang="en-US" dirty="0"/>
              <a:t>Front-End </a:t>
            </a:r>
            <a:r>
              <a:rPr lang="el-GR" dirty="0"/>
              <a:t>και </a:t>
            </a:r>
            <a:r>
              <a:rPr lang="en-US" dirty="0"/>
              <a:t>Back-End </a:t>
            </a:r>
            <a:r>
              <a:rPr lang="el-GR" dirty="0"/>
              <a:t>υλοποίηση σε </a:t>
            </a:r>
            <a:r>
              <a:rPr lang="en-US" dirty="0"/>
              <a:t>Python </a:t>
            </a:r>
            <a:r>
              <a:rPr lang="el-GR" dirty="0"/>
              <a:t>που να υποστηρίζει το αυστραλιανό πρωτάθλημα τένις.</a:t>
            </a:r>
            <a:endParaRPr lang="en-US" dirty="0"/>
          </a:p>
          <a:p>
            <a:endParaRPr lang="el-GR" dirty="0"/>
          </a:p>
          <a:p>
            <a:r>
              <a:rPr lang="el-GR" dirty="0"/>
              <a:t>Απαιτήσεις: </a:t>
            </a:r>
          </a:p>
          <a:p>
            <a:pPr lvl="1"/>
            <a:r>
              <a:rPr lang="el-GR" dirty="0"/>
              <a:t>Λήψη δεδομένων από ιστότοπο του </a:t>
            </a:r>
            <a:r>
              <a:rPr lang="en-US" dirty="0"/>
              <a:t>AUSOPEN.</a:t>
            </a:r>
          </a:p>
          <a:p>
            <a:pPr lvl="1"/>
            <a:r>
              <a:rPr lang="el-GR" dirty="0"/>
              <a:t>Καταχώρηση δεδομένων σε κατάλληλη δομή για μόνιμη αποθήκευση.</a:t>
            </a:r>
          </a:p>
          <a:p>
            <a:pPr lvl="1"/>
            <a:r>
              <a:rPr lang="el-GR" dirty="0"/>
              <a:t>Σχεδιασμός αλγορίθμου για κλήρωση παικτών και ομαδοποίηση σε </a:t>
            </a:r>
            <a:r>
              <a:rPr lang="en-US" dirty="0"/>
              <a:t>groups.</a:t>
            </a:r>
          </a:p>
          <a:p>
            <a:pPr lvl="1"/>
            <a:r>
              <a:rPr lang="el-GR" dirty="0"/>
              <a:t>Ανάπτυξη γραφικής διεπαφής τόσο για προβολή δεδομένων αλλά και αλληλεπίδραση με το χρήστη.</a:t>
            </a:r>
          </a:p>
          <a:p>
            <a:pPr marL="0" indent="0">
              <a:buNone/>
            </a:pP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87234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C7E1FB2-9334-4259-AADA-B0EA72EC9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Διαχωρισμός του Προβλήματος σε Ενότητες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4876245-B0A1-438C-A123-2875D726F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007633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800"/>
              </a:spcAft>
            </a:pPr>
            <a:r>
              <a:rPr lang="el-GR" dirty="0"/>
              <a:t>Το πρόβλημα χωρίζεται εννοιολογικά σε τρεις (3) θεματικές ενότητες:</a:t>
            </a:r>
            <a:endParaRPr lang="en-US" dirty="0"/>
          </a:p>
          <a:p>
            <a:pPr marL="0" indent="0">
              <a:spcAft>
                <a:spcPts val="800"/>
              </a:spcAft>
              <a:buNone/>
            </a:pPr>
            <a:endParaRPr lang="el-GR" dirty="0"/>
          </a:p>
          <a:p>
            <a:pPr marL="857250" lvl="1"/>
            <a:r>
              <a:rPr lang="el-GR" dirty="0"/>
              <a:t>Άντληση Δεδομένων από το διαδίκτυο και καταχώριση σε βάση δεδομένων</a:t>
            </a:r>
          </a:p>
          <a:p>
            <a:pPr marL="857250" lvl="1"/>
            <a:endParaRPr lang="el-GR" dirty="0"/>
          </a:p>
          <a:p>
            <a:pPr marL="857250" lvl="1"/>
            <a:r>
              <a:rPr lang="el-GR" dirty="0"/>
              <a:t>Ομαδοποίηση Παικτών – Κλήρωση και καταχώριση στη βάση δεδομένων</a:t>
            </a:r>
          </a:p>
          <a:p>
            <a:pPr marL="857250" lvl="1">
              <a:spcAft>
                <a:spcPts val="800"/>
              </a:spcAft>
            </a:pPr>
            <a:endParaRPr lang="el-GR" dirty="0"/>
          </a:p>
          <a:p>
            <a:pPr marL="857250" lvl="1">
              <a:spcAft>
                <a:spcPts val="800"/>
              </a:spcAft>
            </a:pPr>
            <a:r>
              <a:rPr lang="el-GR" dirty="0"/>
              <a:t>Ανάπτυξη Γραφικής Διεπαφής – Αλληλεπίδραση με τον χρήστη</a:t>
            </a:r>
          </a:p>
          <a:p>
            <a:pPr marL="0" indent="0">
              <a:buNone/>
            </a:pP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461538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45A9EBF-3182-EA0B-B223-2470C9DB3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l-GR" sz="5400" dirty="0"/>
              <a:t>Άντληση Δεδομένων</a:t>
            </a:r>
          </a:p>
        </p:txBody>
      </p:sp>
    </p:spTree>
    <p:extLst>
      <p:ext uri="{BB962C8B-B14F-4D97-AF65-F5344CB8AC3E}">
        <p14:creationId xmlns:p14="http://schemas.microsoft.com/office/powerpoint/2010/main" val="2415751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A8987C9-8305-BEDC-3955-89AA5DE33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Άντληση Δεδομένων (1/3)</a:t>
            </a:r>
          </a:p>
        </p:txBody>
      </p: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28495B23-8B20-17A4-1F8F-1A501AEEA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332" y="2029179"/>
            <a:ext cx="3672395" cy="2799641"/>
          </a:xfrm>
        </p:spPr>
        <p:txBody>
          <a:bodyPr>
            <a:normAutofit/>
          </a:bodyPr>
          <a:lstStyle/>
          <a:p>
            <a:r>
              <a:rPr lang="el-GR" sz="2400" dirty="0"/>
              <a:t>Φόρτωση σελίδας με ενεργοποιημένο τον έλεγχο στοιχείου.</a:t>
            </a:r>
          </a:p>
          <a:p>
            <a:r>
              <a:rPr lang="el-GR" sz="2400" dirty="0"/>
              <a:t>Μετάβαση στην καρτέλα </a:t>
            </a:r>
            <a:r>
              <a:rPr lang="en-US" sz="2400" dirty="0"/>
              <a:t>Network.</a:t>
            </a:r>
          </a:p>
          <a:p>
            <a:r>
              <a:rPr lang="el-GR" sz="2400" dirty="0"/>
              <a:t>Εντοπισμός </a:t>
            </a:r>
            <a:r>
              <a:rPr lang="en-US" sz="2400" dirty="0"/>
              <a:t>JSON </a:t>
            </a:r>
            <a:r>
              <a:rPr lang="el-GR" sz="2400" dirty="0"/>
              <a:t>αρχείου για όλους τους παίκτες.</a:t>
            </a:r>
          </a:p>
        </p:txBody>
      </p:sp>
      <p:grpSp>
        <p:nvGrpSpPr>
          <p:cNvPr id="9" name="Ομάδα 8">
            <a:extLst>
              <a:ext uri="{FF2B5EF4-FFF2-40B4-BE49-F238E27FC236}">
                <a16:creationId xmlns:a16="http://schemas.microsoft.com/office/drawing/2014/main" id="{AA106C5A-6D6A-6BDC-5DF4-03171678B1FA}"/>
              </a:ext>
            </a:extLst>
          </p:cNvPr>
          <p:cNvGrpSpPr/>
          <p:nvPr/>
        </p:nvGrpSpPr>
        <p:grpSpPr>
          <a:xfrm>
            <a:off x="4171765" y="1571347"/>
            <a:ext cx="7511249" cy="4625267"/>
            <a:chOff x="4171765" y="1571347"/>
            <a:chExt cx="7511249" cy="4625267"/>
          </a:xfrm>
        </p:grpSpPr>
        <p:pic>
          <p:nvPicPr>
            <p:cNvPr id="6" name="Εικόνα 5">
              <a:extLst>
                <a:ext uri="{FF2B5EF4-FFF2-40B4-BE49-F238E27FC236}">
                  <a16:creationId xmlns:a16="http://schemas.microsoft.com/office/drawing/2014/main" id="{26326819-AAB7-206D-539D-B57F58E4A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71765" y="1571347"/>
              <a:ext cx="7511249" cy="4625267"/>
            </a:xfrm>
            <a:prstGeom prst="rect">
              <a:avLst/>
            </a:prstGeom>
          </p:spPr>
        </p:pic>
        <p:sp>
          <p:nvSpPr>
            <p:cNvPr id="7" name="Ορθογώνιο 6">
              <a:extLst>
                <a:ext uri="{FF2B5EF4-FFF2-40B4-BE49-F238E27FC236}">
                  <a16:creationId xmlns:a16="http://schemas.microsoft.com/office/drawing/2014/main" id="{706F30C1-0C2F-4F7A-0335-37726DEF28AB}"/>
                </a:ext>
              </a:extLst>
            </p:cNvPr>
            <p:cNvSpPr/>
            <p:nvPr/>
          </p:nvSpPr>
          <p:spPr>
            <a:xfrm>
              <a:off x="9161755" y="3231472"/>
              <a:ext cx="1695635" cy="13316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sp>
          <p:nvSpPr>
            <p:cNvPr id="8" name="Βέλος: Δεξιό 7">
              <a:extLst>
                <a:ext uri="{FF2B5EF4-FFF2-40B4-BE49-F238E27FC236}">
                  <a16:creationId xmlns:a16="http://schemas.microsoft.com/office/drawing/2014/main" id="{8F8D1D8B-53BB-2CE0-341C-ED9796C8FBFD}"/>
                </a:ext>
              </a:extLst>
            </p:cNvPr>
            <p:cNvSpPr/>
            <p:nvPr/>
          </p:nvSpPr>
          <p:spPr>
            <a:xfrm rot="3086486">
              <a:off x="7913484" y="2339508"/>
              <a:ext cx="1509204" cy="453970"/>
            </a:xfrm>
            <a:prstGeom prst="rightArrow">
              <a:avLst>
                <a:gd name="adj1" fmla="val 31333"/>
                <a:gd name="adj2" fmla="val 50000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F6E3CAD-683C-C134-EA01-990770F1E783}"/>
              </a:ext>
            </a:extLst>
          </p:cNvPr>
          <p:cNvSpPr txBox="1"/>
          <p:nvPr/>
        </p:nvSpPr>
        <p:spPr>
          <a:xfrm>
            <a:off x="4079810" y="6295818"/>
            <a:ext cx="91765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Πηγή: </a:t>
            </a: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/>
              </a:rPr>
              <a:t>https://stackoverflow.com/questions/17151478/how-to-view-xmlhttprequest-object</a:t>
            </a:r>
            <a:endParaRPr lang="el-G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33981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A8987C9-8305-BEDC-3955-89AA5DE33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Άντληση Δεδομένων (2/3)</a:t>
            </a:r>
          </a:p>
        </p:txBody>
      </p: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28495B23-8B20-17A4-1F8F-1A501AEEA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931" y="2666537"/>
            <a:ext cx="3564915" cy="1546575"/>
          </a:xfrm>
        </p:spPr>
        <p:txBody>
          <a:bodyPr>
            <a:normAutofit/>
          </a:bodyPr>
          <a:lstStyle/>
          <a:p>
            <a:r>
              <a:rPr lang="el-GR" sz="2400" dirty="0"/>
              <a:t>Εντοπισμός </a:t>
            </a:r>
            <a:r>
              <a:rPr lang="en-US" sz="2400" dirty="0"/>
              <a:t>JSON </a:t>
            </a:r>
            <a:r>
              <a:rPr lang="el-GR" sz="2400" dirty="0"/>
              <a:t>αρχείου για έναν παίκτη.</a:t>
            </a:r>
          </a:p>
        </p:txBody>
      </p:sp>
      <p:grpSp>
        <p:nvGrpSpPr>
          <p:cNvPr id="9" name="Ομάδα 8">
            <a:extLst>
              <a:ext uri="{FF2B5EF4-FFF2-40B4-BE49-F238E27FC236}">
                <a16:creationId xmlns:a16="http://schemas.microsoft.com/office/drawing/2014/main" id="{3D97801B-8701-9A73-8E61-16DC6FE5F1C8}"/>
              </a:ext>
            </a:extLst>
          </p:cNvPr>
          <p:cNvGrpSpPr/>
          <p:nvPr/>
        </p:nvGrpSpPr>
        <p:grpSpPr>
          <a:xfrm>
            <a:off x="4020846" y="1606858"/>
            <a:ext cx="7724311" cy="4820576"/>
            <a:chOff x="4020846" y="1313895"/>
            <a:chExt cx="7652551" cy="5255580"/>
          </a:xfrm>
        </p:grpSpPr>
        <p:pic>
          <p:nvPicPr>
            <p:cNvPr id="4" name="Εικόνα 3">
              <a:extLst>
                <a:ext uri="{FF2B5EF4-FFF2-40B4-BE49-F238E27FC236}">
                  <a16:creationId xmlns:a16="http://schemas.microsoft.com/office/drawing/2014/main" id="{DBFF653A-5521-D5DA-4D96-C348BEF3B0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20846" y="1313895"/>
              <a:ext cx="7652551" cy="5255580"/>
            </a:xfrm>
            <a:prstGeom prst="rect">
              <a:avLst/>
            </a:prstGeom>
          </p:spPr>
        </p:pic>
        <p:sp>
          <p:nvSpPr>
            <p:cNvPr id="7" name="Ορθογώνιο 6">
              <a:extLst>
                <a:ext uri="{FF2B5EF4-FFF2-40B4-BE49-F238E27FC236}">
                  <a16:creationId xmlns:a16="http://schemas.microsoft.com/office/drawing/2014/main" id="{706F30C1-0C2F-4F7A-0335-37726DEF28AB}"/>
                </a:ext>
              </a:extLst>
            </p:cNvPr>
            <p:cNvSpPr/>
            <p:nvPr/>
          </p:nvSpPr>
          <p:spPr>
            <a:xfrm>
              <a:off x="9170633" y="3199290"/>
              <a:ext cx="1988598" cy="1975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sp>
          <p:nvSpPr>
            <p:cNvPr id="8" name="Βέλος: Δεξιό 7">
              <a:extLst>
                <a:ext uri="{FF2B5EF4-FFF2-40B4-BE49-F238E27FC236}">
                  <a16:creationId xmlns:a16="http://schemas.microsoft.com/office/drawing/2014/main" id="{8F8D1D8B-53BB-2CE0-341C-ED9796C8FBFD}"/>
                </a:ext>
              </a:extLst>
            </p:cNvPr>
            <p:cNvSpPr/>
            <p:nvPr/>
          </p:nvSpPr>
          <p:spPr>
            <a:xfrm rot="3086486">
              <a:off x="7913484" y="2339508"/>
              <a:ext cx="1509204" cy="453970"/>
            </a:xfrm>
            <a:prstGeom prst="rightArrow">
              <a:avLst>
                <a:gd name="adj1" fmla="val 31333"/>
                <a:gd name="adj2" fmla="val 50000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</p:grpSp>
    </p:spTree>
    <p:extLst>
      <p:ext uri="{BB962C8B-B14F-4D97-AF65-F5344CB8AC3E}">
        <p14:creationId xmlns:p14="http://schemas.microsoft.com/office/powerpoint/2010/main" val="2950751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A8987C9-8305-BEDC-3955-89AA5DE33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Άντληση Δεδομένων (3/3)</a:t>
            </a:r>
          </a:p>
        </p:txBody>
      </p: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28495B23-8B20-17A4-1F8F-1A501AEEA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7220" y="1957842"/>
            <a:ext cx="10137559" cy="2942316"/>
          </a:xfrm>
        </p:spPr>
        <p:txBody>
          <a:bodyPr>
            <a:normAutofit/>
          </a:bodyPr>
          <a:lstStyle/>
          <a:p>
            <a:r>
              <a:rPr lang="el-GR" dirty="0"/>
              <a:t>Αναπαραγωγή </a:t>
            </a:r>
            <a:r>
              <a:rPr lang="en-US" dirty="0"/>
              <a:t>JSON </a:t>
            </a:r>
            <a:r>
              <a:rPr lang="el-GR" dirty="0"/>
              <a:t>κάθε παίκτη μέσω των </a:t>
            </a:r>
            <a:r>
              <a:rPr lang="en-US" dirty="0" err="1"/>
              <a:t>tour_id</a:t>
            </a:r>
            <a:r>
              <a:rPr lang="en-US" dirty="0"/>
              <a:t> </a:t>
            </a:r>
            <a:r>
              <a:rPr lang="el-GR" dirty="0"/>
              <a:t>από το </a:t>
            </a:r>
            <a:r>
              <a:rPr lang="en-US" dirty="0"/>
              <a:t>JSON </a:t>
            </a:r>
            <a:r>
              <a:rPr lang="el-GR" dirty="0"/>
              <a:t>όλων των παικτών.</a:t>
            </a:r>
          </a:p>
          <a:p>
            <a:endParaRPr lang="el-GR" dirty="0"/>
          </a:p>
          <a:p>
            <a:pPr marL="0" indent="0" algn="ctr">
              <a:buNone/>
            </a:pPr>
            <a:r>
              <a:rPr lang="en-US" sz="1800" b="0" i="0" dirty="0" err="1">
                <a:solidFill>
                  <a:schemeClr val="accent1"/>
                </a:solidFill>
                <a:effectLst/>
                <a:latin typeface="ui-monospace"/>
              </a:rPr>
              <a:t>response_API</a:t>
            </a:r>
            <a:r>
              <a:rPr lang="en-US" sz="1800" b="0" i="0" dirty="0">
                <a:solidFill>
                  <a:schemeClr val="accent1"/>
                </a:solidFill>
                <a:effectLst/>
                <a:latin typeface="ui-monospace"/>
              </a:rPr>
              <a:t> = requests.get('https://ausopen.com/event/195321/</a:t>
            </a:r>
            <a:r>
              <a:rPr lang="en-US" sz="1800" b="0" i="0" dirty="0" err="1">
                <a:solidFill>
                  <a:schemeClr val="accent1"/>
                </a:solidFill>
                <a:effectLst/>
                <a:latin typeface="ui-monospace"/>
              </a:rPr>
              <a:t>players?_format</a:t>
            </a:r>
            <a:r>
              <a:rPr lang="en-US" sz="1800" b="0" i="0" dirty="0">
                <a:solidFill>
                  <a:schemeClr val="accent1"/>
                </a:solidFill>
                <a:effectLst/>
                <a:latin typeface="ui-monospace"/>
              </a:rPr>
              <a:t>=json’)</a:t>
            </a:r>
            <a:endParaRPr lang="el-GR" b="0" i="0" dirty="0">
              <a:solidFill>
                <a:schemeClr val="accent1"/>
              </a:solidFill>
              <a:effectLst/>
              <a:latin typeface="ui-monospace"/>
            </a:endParaRPr>
          </a:p>
          <a:p>
            <a:pPr marL="0" indent="0" algn="ctr">
              <a:buNone/>
            </a:pPr>
            <a:r>
              <a:rPr lang="fr-FR" sz="1800" b="0" i="0" dirty="0" err="1">
                <a:solidFill>
                  <a:schemeClr val="accent1"/>
                </a:solidFill>
                <a:effectLst/>
                <a:latin typeface="ui-monospace"/>
              </a:rPr>
              <a:t>str_curr_tour_id</a:t>
            </a:r>
            <a:r>
              <a:rPr lang="fr-FR" sz="1800" b="0" i="0" dirty="0">
                <a:solidFill>
                  <a:schemeClr val="accent1"/>
                </a:solidFill>
                <a:effectLst/>
                <a:latin typeface="ui-monospace"/>
              </a:rPr>
              <a:t> = 'https://ausopen.com/sites/default/files/player_json/' + curr_tour_id + '.json'</a:t>
            </a:r>
            <a:endParaRPr lang="el-GR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696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A8987C9-8305-BEDC-3955-89AA5DE33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Καταχώριση στη Βάση</a:t>
            </a:r>
          </a:p>
        </p:txBody>
      </p:sp>
      <p:pic>
        <p:nvPicPr>
          <p:cNvPr id="9" name="Εικόνα 8">
            <a:extLst>
              <a:ext uri="{FF2B5EF4-FFF2-40B4-BE49-F238E27FC236}">
                <a16:creationId xmlns:a16="http://schemas.microsoft.com/office/drawing/2014/main" id="{C90F5C3C-E1F9-B909-FB8F-1659AEDD0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134" y="1571348"/>
            <a:ext cx="8945732" cy="492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473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A8987C9-8305-BEDC-3955-89AA5DE33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Ομαδοποίηση Παικτών – Κλήρωση</a:t>
            </a:r>
          </a:p>
        </p:txBody>
      </p:sp>
      <p:pic>
        <p:nvPicPr>
          <p:cNvPr id="83" name="Εικόνα 82">
            <a:extLst>
              <a:ext uri="{FF2B5EF4-FFF2-40B4-BE49-F238E27FC236}">
                <a16:creationId xmlns:a16="http://schemas.microsoft.com/office/drawing/2014/main" id="{49CF0898-402E-9A7E-BA42-DC7FD03CF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986" y="2247735"/>
            <a:ext cx="9731827" cy="302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526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Τίτλος 1">
            <a:extLst>
              <a:ext uri="{FF2B5EF4-FFF2-40B4-BE49-F238E27FC236}">
                <a16:creationId xmlns:a16="http://schemas.microsoft.com/office/drawing/2014/main" id="{4EC20D02-3053-4EBF-991E-941617929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Κύρια Σελίδα</a:t>
            </a:r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CE0E1F63-A143-A8EA-2D1A-E2E7F0041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042" y="1690688"/>
            <a:ext cx="7913915" cy="446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212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Τίτλος 1">
            <a:extLst>
              <a:ext uri="{FF2B5EF4-FFF2-40B4-BE49-F238E27FC236}">
                <a16:creationId xmlns:a16="http://schemas.microsoft.com/office/drawing/2014/main" id="{4EC20D02-3053-4EBF-991E-941617929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Αρχικοποίηση</a:t>
            </a:r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FB09BC3C-DBFD-7755-6E3F-E992D8173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270" y="1690689"/>
            <a:ext cx="8189459" cy="454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361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23D5C91-A763-4D78-BA5E-F5C143C61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Συντελεστές</a:t>
            </a:r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9FFF5BA9-D194-7F37-0F49-88B93D66A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915" y="2053635"/>
            <a:ext cx="6440170" cy="369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205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23D5C91-A763-4D78-BA5E-F5C143C61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Παίκτες</a:t>
            </a:r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C904DF03-BB63-2789-1693-71429DF7A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707" y="1690688"/>
            <a:ext cx="8278585" cy="467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0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23D5C91-A763-4D78-BA5E-F5C143C61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Παίκτες</a:t>
            </a:r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67B53716-E07C-4DFD-43A0-71BB1EC5D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978" y="1469572"/>
            <a:ext cx="8616043" cy="492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334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23D5C91-A763-4D78-BA5E-F5C143C61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Αγώνες (1/2)</a:t>
            </a:r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0C6C8D47-E45F-58A5-B599-D903AE073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157" y="1543730"/>
            <a:ext cx="8697686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529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DC75596-FF6A-7B81-0B24-9A9ACDDA0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Αλγόριθμος Σχηματισμού </a:t>
            </a:r>
            <a:r>
              <a:rPr lang="en-US" dirty="0"/>
              <a:t>Id </a:t>
            </a:r>
            <a:r>
              <a:rPr lang="el-GR" dirty="0"/>
              <a:t>Αγώνων</a:t>
            </a:r>
          </a:p>
        </p:txBody>
      </p:sp>
      <p:grpSp>
        <p:nvGrpSpPr>
          <p:cNvPr id="95" name="Ομάδα 94">
            <a:extLst>
              <a:ext uri="{FF2B5EF4-FFF2-40B4-BE49-F238E27FC236}">
                <a16:creationId xmlns:a16="http://schemas.microsoft.com/office/drawing/2014/main" id="{6AE4273B-1C50-188C-7F8F-7BA63F7E1CEC}"/>
              </a:ext>
            </a:extLst>
          </p:cNvPr>
          <p:cNvGrpSpPr/>
          <p:nvPr/>
        </p:nvGrpSpPr>
        <p:grpSpPr>
          <a:xfrm>
            <a:off x="3099491" y="1439547"/>
            <a:ext cx="5993017" cy="5053328"/>
            <a:chOff x="1641779" y="1439547"/>
            <a:chExt cx="6323584" cy="5262439"/>
          </a:xfrm>
        </p:grpSpPr>
        <p:grpSp>
          <p:nvGrpSpPr>
            <p:cNvPr id="40" name="Ομάδα 39">
              <a:extLst>
                <a:ext uri="{FF2B5EF4-FFF2-40B4-BE49-F238E27FC236}">
                  <a16:creationId xmlns:a16="http://schemas.microsoft.com/office/drawing/2014/main" id="{B3CCD6A7-876F-A8E9-7672-E0539646CC76}"/>
                </a:ext>
              </a:extLst>
            </p:cNvPr>
            <p:cNvGrpSpPr/>
            <p:nvPr/>
          </p:nvGrpSpPr>
          <p:grpSpPr>
            <a:xfrm>
              <a:off x="1641779" y="1439547"/>
              <a:ext cx="4573204" cy="2452204"/>
              <a:chOff x="2068497" y="2709515"/>
              <a:chExt cx="3893599" cy="2901166"/>
            </a:xfrm>
          </p:grpSpPr>
          <p:grpSp>
            <p:nvGrpSpPr>
              <p:cNvPr id="43" name="Ομάδα 42">
                <a:extLst>
                  <a:ext uri="{FF2B5EF4-FFF2-40B4-BE49-F238E27FC236}">
                    <a16:creationId xmlns:a16="http://schemas.microsoft.com/office/drawing/2014/main" id="{B0E33834-C2CF-E96F-4E21-5348DFE205F9}"/>
                  </a:ext>
                </a:extLst>
              </p:cNvPr>
              <p:cNvGrpSpPr/>
              <p:nvPr/>
            </p:nvGrpSpPr>
            <p:grpSpPr>
              <a:xfrm>
                <a:off x="2068497" y="2709515"/>
                <a:ext cx="861134" cy="457509"/>
                <a:chOff x="2068497" y="2574524"/>
                <a:chExt cx="861134" cy="457509"/>
              </a:xfrm>
            </p:grpSpPr>
            <p:sp>
              <p:nvSpPr>
                <p:cNvPr id="68" name="Ορθογώνιο 67">
                  <a:extLst>
                    <a:ext uri="{FF2B5EF4-FFF2-40B4-BE49-F238E27FC236}">
                      <a16:creationId xmlns:a16="http://schemas.microsoft.com/office/drawing/2014/main" id="{ED7A31CA-7943-0EE2-F292-39B94F1177A4}"/>
                    </a:ext>
                  </a:extLst>
                </p:cNvPr>
                <p:cNvSpPr/>
                <p:nvPr/>
              </p:nvSpPr>
              <p:spPr>
                <a:xfrm>
                  <a:off x="2068497" y="2574524"/>
                  <a:ext cx="861134" cy="457509"/>
                </a:xfrm>
                <a:prstGeom prst="rect">
                  <a:avLst/>
                </a:prstGeom>
                <a:ln>
                  <a:noFill/>
                </a:ln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l-GR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42F5BF99-1DF8-D4BC-E85E-71ADD785E566}"/>
                    </a:ext>
                  </a:extLst>
                </p:cNvPr>
                <p:cNvSpPr txBox="1"/>
                <p:nvPr/>
              </p:nvSpPr>
              <p:spPr>
                <a:xfrm>
                  <a:off x="2068497" y="2618612"/>
                  <a:ext cx="861134" cy="30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dirty="0"/>
                    <a:t>1.1.1</a:t>
                  </a:r>
                </a:p>
              </p:txBody>
            </p:sp>
          </p:grpSp>
          <p:grpSp>
            <p:nvGrpSpPr>
              <p:cNvPr id="44" name="Ομάδα 43">
                <a:extLst>
                  <a:ext uri="{FF2B5EF4-FFF2-40B4-BE49-F238E27FC236}">
                    <a16:creationId xmlns:a16="http://schemas.microsoft.com/office/drawing/2014/main" id="{45A9E291-A5A6-A1E3-1F9F-9ADC9CC8BCF8}"/>
                  </a:ext>
                </a:extLst>
              </p:cNvPr>
              <p:cNvGrpSpPr/>
              <p:nvPr/>
            </p:nvGrpSpPr>
            <p:grpSpPr>
              <a:xfrm>
                <a:off x="2068497" y="3462222"/>
                <a:ext cx="861134" cy="457509"/>
                <a:chOff x="2068497" y="2574524"/>
                <a:chExt cx="861134" cy="457509"/>
              </a:xfrm>
            </p:grpSpPr>
            <p:sp>
              <p:nvSpPr>
                <p:cNvPr id="66" name="Ορθογώνιο 65">
                  <a:extLst>
                    <a:ext uri="{FF2B5EF4-FFF2-40B4-BE49-F238E27FC236}">
                      <a16:creationId xmlns:a16="http://schemas.microsoft.com/office/drawing/2014/main" id="{C7AF8B77-CE52-78CF-206E-C85C92472841}"/>
                    </a:ext>
                  </a:extLst>
                </p:cNvPr>
                <p:cNvSpPr/>
                <p:nvPr/>
              </p:nvSpPr>
              <p:spPr>
                <a:xfrm>
                  <a:off x="2068497" y="2574524"/>
                  <a:ext cx="861134" cy="457509"/>
                </a:xfrm>
                <a:prstGeom prst="rect">
                  <a:avLst/>
                </a:prstGeom>
                <a:ln>
                  <a:noFill/>
                </a:ln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l-GR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8F8C3E88-2A00-16C0-8335-F9CC7735EB37}"/>
                    </a:ext>
                  </a:extLst>
                </p:cNvPr>
                <p:cNvSpPr txBox="1"/>
                <p:nvPr/>
              </p:nvSpPr>
              <p:spPr>
                <a:xfrm>
                  <a:off x="2068497" y="2618612"/>
                  <a:ext cx="861134" cy="30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dirty="0"/>
                    <a:t>1.1.2</a:t>
                  </a:r>
                </a:p>
              </p:txBody>
            </p:sp>
          </p:grpSp>
          <p:grpSp>
            <p:nvGrpSpPr>
              <p:cNvPr id="45" name="Ομάδα 44">
                <a:extLst>
                  <a:ext uri="{FF2B5EF4-FFF2-40B4-BE49-F238E27FC236}">
                    <a16:creationId xmlns:a16="http://schemas.microsoft.com/office/drawing/2014/main" id="{4E334240-8D13-BF28-F3B7-9876BFE3EB08}"/>
                  </a:ext>
                </a:extLst>
              </p:cNvPr>
              <p:cNvGrpSpPr/>
              <p:nvPr/>
            </p:nvGrpSpPr>
            <p:grpSpPr>
              <a:xfrm>
                <a:off x="2068497" y="4400465"/>
                <a:ext cx="861134" cy="457509"/>
                <a:chOff x="2068497" y="2574524"/>
                <a:chExt cx="861134" cy="457509"/>
              </a:xfrm>
            </p:grpSpPr>
            <p:sp>
              <p:nvSpPr>
                <p:cNvPr id="64" name="Ορθογώνιο 63">
                  <a:extLst>
                    <a:ext uri="{FF2B5EF4-FFF2-40B4-BE49-F238E27FC236}">
                      <a16:creationId xmlns:a16="http://schemas.microsoft.com/office/drawing/2014/main" id="{1BC65D26-807B-B114-7759-10383424666D}"/>
                    </a:ext>
                  </a:extLst>
                </p:cNvPr>
                <p:cNvSpPr/>
                <p:nvPr/>
              </p:nvSpPr>
              <p:spPr>
                <a:xfrm>
                  <a:off x="2068497" y="2574524"/>
                  <a:ext cx="861134" cy="457509"/>
                </a:xfrm>
                <a:prstGeom prst="rect">
                  <a:avLst/>
                </a:prstGeom>
                <a:ln>
                  <a:noFill/>
                </a:ln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l-GR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58704143-9267-5785-6B7B-7CE2A4DFD4E0}"/>
                    </a:ext>
                  </a:extLst>
                </p:cNvPr>
                <p:cNvSpPr txBox="1"/>
                <p:nvPr/>
              </p:nvSpPr>
              <p:spPr>
                <a:xfrm>
                  <a:off x="2068497" y="2618612"/>
                  <a:ext cx="861134" cy="30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dirty="0"/>
                    <a:t>1.1.3</a:t>
                  </a:r>
                </a:p>
              </p:txBody>
            </p:sp>
          </p:grpSp>
          <p:grpSp>
            <p:nvGrpSpPr>
              <p:cNvPr id="46" name="Ομάδα 45">
                <a:extLst>
                  <a:ext uri="{FF2B5EF4-FFF2-40B4-BE49-F238E27FC236}">
                    <a16:creationId xmlns:a16="http://schemas.microsoft.com/office/drawing/2014/main" id="{AE735C19-E787-7B23-B401-BAB7A75A719E}"/>
                  </a:ext>
                </a:extLst>
              </p:cNvPr>
              <p:cNvGrpSpPr/>
              <p:nvPr/>
            </p:nvGrpSpPr>
            <p:grpSpPr>
              <a:xfrm>
                <a:off x="2068497" y="5153172"/>
                <a:ext cx="861134" cy="457509"/>
                <a:chOff x="2068497" y="2574524"/>
                <a:chExt cx="861134" cy="457509"/>
              </a:xfrm>
            </p:grpSpPr>
            <p:sp>
              <p:nvSpPr>
                <p:cNvPr id="62" name="Ορθογώνιο 61">
                  <a:extLst>
                    <a:ext uri="{FF2B5EF4-FFF2-40B4-BE49-F238E27FC236}">
                      <a16:creationId xmlns:a16="http://schemas.microsoft.com/office/drawing/2014/main" id="{345A69D2-F0A4-6AEA-FA92-54F17D1BAACC}"/>
                    </a:ext>
                  </a:extLst>
                </p:cNvPr>
                <p:cNvSpPr/>
                <p:nvPr/>
              </p:nvSpPr>
              <p:spPr>
                <a:xfrm>
                  <a:off x="2068497" y="2574524"/>
                  <a:ext cx="861134" cy="457509"/>
                </a:xfrm>
                <a:prstGeom prst="rect">
                  <a:avLst/>
                </a:prstGeom>
                <a:ln>
                  <a:noFill/>
                </a:ln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l-GR"/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0836B29D-F5AE-2283-2D7C-FA29405B628C}"/>
                    </a:ext>
                  </a:extLst>
                </p:cNvPr>
                <p:cNvSpPr txBox="1"/>
                <p:nvPr/>
              </p:nvSpPr>
              <p:spPr>
                <a:xfrm>
                  <a:off x="2068497" y="2618612"/>
                  <a:ext cx="861134" cy="30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dirty="0"/>
                    <a:t>1.1.4</a:t>
                  </a:r>
                </a:p>
              </p:txBody>
            </p:sp>
          </p:grpSp>
          <p:grpSp>
            <p:nvGrpSpPr>
              <p:cNvPr id="47" name="Ομάδα 46">
                <a:extLst>
                  <a:ext uri="{FF2B5EF4-FFF2-40B4-BE49-F238E27FC236}">
                    <a16:creationId xmlns:a16="http://schemas.microsoft.com/office/drawing/2014/main" id="{39EB9292-ACAE-9E67-49D1-4CD0A0614D35}"/>
                  </a:ext>
                </a:extLst>
              </p:cNvPr>
              <p:cNvGrpSpPr/>
              <p:nvPr/>
            </p:nvGrpSpPr>
            <p:grpSpPr>
              <a:xfrm>
                <a:off x="3729361" y="2971491"/>
                <a:ext cx="861134" cy="457509"/>
                <a:chOff x="2068497" y="2574524"/>
                <a:chExt cx="861134" cy="457509"/>
              </a:xfrm>
            </p:grpSpPr>
            <p:sp>
              <p:nvSpPr>
                <p:cNvPr id="60" name="Ορθογώνιο 59">
                  <a:extLst>
                    <a:ext uri="{FF2B5EF4-FFF2-40B4-BE49-F238E27FC236}">
                      <a16:creationId xmlns:a16="http://schemas.microsoft.com/office/drawing/2014/main" id="{F8948265-64EB-42C9-239A-44A0E664BAC0}"/>
                    </a:ext>
                  </a:extLst>
                </p:cNvPr>
                <p:cNvSpPr/>
                <p:nvPr/>
              </p:nvSpPr>
              <p:spPr>
                <a:xfrm>
                  <a:off x="2068497" y="2574524"/>
                  <a:ext cx="861134" cy="457509"/>
                </a:xfrm>
                <a:prstGeom prst="rect">
                  <a:avLst/>
                </a:prstGeom>
                <a:ln>
                  <a:noFill/>
                </a:ln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l-GR"/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F56D8F30-79CC-6854-52C3-4A6B18461E8A}"/>
                    </a:ext>
                  </a:extLst>
                </p:cNvPr>
                <p:cNvSpPr txBox="1"/>
                <p:nvPr/>
              </p:nvSpPr>
              <p:spPr>
                <a:xfrm>
                  <a:off x="2068497" y="2618612"/>
                  <a:ext cx="861134" cy="30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dirty="0"/>
                    <a:t>2.1.1</a:t>
                  </a:r>
                </a:p>
              </p:txBody>
            </p:sp>
          </p:grpSp>
          <p:grpSp>
            <p:nvGrpSpPr>
              <p:cNvPr id="48" name="Ομάδα 47">
                <a:extLst>
                  <a:ext uri="{FF2B5EF4-FFF2-40B4-BE49-F238E27FC236}">
                    <a16:creationId xmlns:a16="http://schemas.microsoft.com/office/drawing/2014/main" id="{729E3C5D-7ACF-C4A5-446B-A370AE7DDFCE}"/>
                  </a:ext>
                </a:extLst>
              </p:cNvPr>
              <p:cNvGrpSpPr/>
              <p:nvPr/>
            </p:nvGrpSpPr>
            <p:grpSpPr>
              <a:xfrm>
                <a:off x="3729361" y="4753052"/>
                <a:ext cx="861134" cy="457509"/>
                <a:chOff x="2068497" y="2574524"/>
                <a:chExt cx="861134" cy="457509"/>
              </a:xfrm>
            </p:grpSpPr>
            <p:sp>
              <p:nvSpPr>
                <p:cNvPr id="58" name="Ορθογώνιο 57">
                  <a:extLst>
                    <a:ext uri="{FF2B5EF4-FFF2-40B4-BE49-F238E27FC236}">
                      <a16:creationId xmlns:a16="http://schemas.microsoft.com/office/drawing/2014/main" id="{1150B4A4-A7E1-3973-5116-C9F129356D6A}"/>
                    </a:ext>
                  </a:extLst>
                </p:cNvPr>
                <p:cNvSpPr/>
                <p:nvPr/>
              </p:nvSpPr>
              <p:spPr>
                <a:xfrm>
                  <a:off x="2068497" y="2574524"/>
                  <a:ext cx="861134" cy="457509"/>
                </a:xfrm>
                <a:prstGeom prst="rect">
                  <a:avLst/>
                </a:prstGeom>
                <a:ln>
                  <a:noFill/>
                </a:ln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l-GR"/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54B508A2-1D64-D018-8CAC-D392E37C1DAC}"/>
                    </a:ext>
                  </a:extLst>
                </p:cNvPr>
                <p:cNvSpPr txBox="1"/>
                <p:nvPr/>
              </p:nvSpPr>
              <p:spPr>
                <a:xfrm>
                  <a:off x="2068497" y="2618612"/>
                  <a:ext cx="861134" cy="30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dirty="0"/>
                    <a:t>2.1.2</a:t>
                  </a:r>
                </a:p>
              </p:txBody>
            </p:sp>
          </p:grpSp>
          <p:grpSp>
            <p:nvGrpSpPr>
              <p:cNvPr id="49" name="Ομάδα 48">
                <a:extLst>
                  <a:ext uri="{FF2B5EF4-FFF2-40B4-BE49-F238E27FC236}">
                    <a16:creationId xmlns:a16="http://schemas.microsoft.com/office/drawing/2014/main" id="{03B28AE6-402A-42A5-9113-83D60758FA45}"/>
                  </a:ext>
                </a:extLst>
              </p:cNvPr>
              <p:cNvGrpSpPr/>
              <p:nvPr/>
            </p:nvGrpSpPr>
            <p:grpSpPr>
              <a:xfrm>
                <a:off x="5100962" y="3825968"/>
                <a:ext cx="861134" cy="457509"/>
                <a:chOff x="2068497" y="2574524"/>
                <a:chExt cx="861134" cy="457509"/>
              </a:xfrm>
            </p:grpSpPr>
            <p:sp>
              <p:nvSpPr>
                <p:cNvPr id="56" name="Ορθογώνιο 55">
                  <a:extLst>
                    <a:ext uri="{FF2B5EF4-FFF2-40B4-BE49-F238E27FC236}">
                      <a16:creationId xmlns:a16="http://schemas.microsoft.com/office/drawing/2014/main" id="{BBD4E3B0-F7DB-D7A6-F3E8-3EDFF6053FC5}"/>
                    </a:ext>
                  </a:extLst>
                </p:cNvPr>
                <p:cNvSpPr/>
                <p:nvPr/>
              </p:nvSpPr>
              <p:spPr>
                <a:xfrm>
                  <a:off x="2068497" y="2574524"/>
                  <a:ext cx="861134" cy="457509"/>
                </a:xfrm>
                <a:prstGeom prst="rect">
                  <a:avLst/>
                </a:prstGeom>
                <a:ln>
                  <a:noFill/>
                </a:ln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l-GR"/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AA7DA208-B89E-0FBD-08ED-E4571379F747}"/>
                    </a:ext>
                  </a:extLst>
                </p:cNvPr>
                <p:cNvSpPr txBox="1"/>
                <p:nvPr/>
              </p:nvSpPr>
              <p:spPr>
                <a:xfrm>
                  <a:off x="2068497" y="2618612"/>
                  <a:ext cx="861134" cy="30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dirty="0"/>
                    <a:t>3.1.1</a:t>
                  </a:r>
                </a:p>
              </p:txBody>
            </p:sp>
          </p:grpSp>
        </p:grpSp>
        <p:grpSp>
          <p:nvGrpSpPr>
            <p:cNvPr id="70" name="Ομάδα 69">
              <a:extLst>
                <a:ext uri="{FF2B5EF4-FFF2-40B4-BE49-F238E27FC236}">
                  <a16:creationId xmlns:a16="http://schemas.microsoft.com/office/drawing/2014/main" id="{8665528B-5721-B5BC-DD7B-94C39CF1ED9A}"/>
                </a:ext>
              </a:extLst>
            </p:cNvPr>
            <p:cNvGrpSpPr/>
            <p:nvPr/>
          </p:nvGrpSpPr>
          <p:grpSpPr>
            <a:xfrm>
              <a:off x="1641779" y="4229892"/>
              <a:ext cx="4573204" cy="2472094"/>
              <a:chOff x="2068497" y="2709515"/>
              <a:chExt cx="3893599" cy="2924697"/>
            </a:xfrm>
          </p:grpSpPr>
          <p:grpSp>
            <p:nvGrpSpPr>
              <p:cNvPr id="71" name="Ομάδα 70">
                <a:extLst>
                  <a:ext uri="{FF2B5EF4-FFF2-40B4-BE49-F238E27FC236}">
                    <a16:creationId xmlns:a16="http://schemas.microsoft.com/office/drawing/2014/main" id="{88F36163-00B4-07BB-4BA8-7DC88F231BDC}"/>
                  </a:ext>
                </a:extLst>
              </p:cNvPr>
              <p:cNvGrpSpPr/>
              <p:nvPr/>
            </p:nvGrpSpPr>
            <p:grpSpPr>
              <a:xfrm>
                <a:off x="2068497" y="2709515"/>
                <a:ext cx="861134" cy="481040"/>
                <a:chOff x="2068497" y="2574524"/>
                <a:chExt cx="861134" cy="481040"/>
              </a:xfrm>
            </p:grpSpPr>
            <p:sp>
              <p:nvSpPr>
                <p:cNvPr id="90" name="Ορθογώνιο 89">
                  <a:extLst>
                    <a:ext uri="{FF2B5EF4-FFF2-40B4-BE49-F238E27FC236}">
                      <a16:creationId xmlns:a16="http://schemas.microsoft.com/office/drawing/2014/main" id="{946E53F9-F05E-7B5D-C7EA-857A21899282}"/>
                    </a:ext>
                  </a:extLst>
                </p:cNvPr>
                <p:cNvSpPr/>
                <p:nvPr/>
              </p:nvSpPr>
              <p:spPr>
                <a:xfrm>
                  <a:off x="2068497" y="2574524"/>
                  <a:ext cx="861134" cy="457509"/>
                </a:xfrm>
                <a:prstGeom prst="rect">
                  <a:avLst/>
                </a:prstGeom>
                <a:ln>
                  <a:noFill/>
                </a:ln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l-GR"/>
                </a:p>
              </p:txBody>
            </p: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D19D425D-37CB-B791-AA44-77DBC1FB9B29}"/>
                    </a:ext>
                  </a:extLst>
                </p:cNvPr>
                <p:cNvSpPr txBox="1"/>
                <p:nvPr/>
              </p:nvSpPr>
              <p:spPr>
                <a:xfrm>
                  <a:off x="2068497" y="2618612"/>
                  <a:ext cx="861134" cy="4369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dirty="0"/>
                    <a:t>1.2.1</a:t>
                  </a:r>
                </a:p>
              </p:txBody>
            </p:sp>
          </p:grpSp>
          <p:grpSp>
            <p:nvGrpSpPr>
              <p:cNvPr id="72" name="Ομάδα 71">
                <a:extLst>
                  <a:ext uri="{FF2B5EF4-FFF2-40B4-BE49-F238E27FC236}">
                    <a16:creationId xmlns:a16="http://schemas.microsoft.com/office/drawing/2014/main" id="{A0A282D7-8939-D700-235C-C16F2FBA9723}"/>
                  </a:ext>
                </a:extLst>
              </p:cNvPr>
              <p:cNvGrpSpPr/>
              <p:nvPr/>
            </p:nvGrpSpPr>
            <p:grpSpPr>
              <a:xfrm>
                <a:off x="2068497" y="3462222"/>
                <a:ext cx="861134" cy="481040"/>
                <a:chOff x="2068497" y="2574524"/>
                <a:chExt cx="861134" cy="481040"/>
              </a:xfrm>
            </p:grpSpPr>
            <p:sp>
              <p:nvSpPr>
                <p:cNvPr id="88" name="Ορθογώνιο 87">
                  <a:extLst>
                    <a:ext uri="{FF2B5EF4-FFF2-40B4-BE49-F238E27FC236}">
                      <a16:creationId xmlns:a16="http://schemas.microsoft.com/office/drawing/2014/main" id="{3F53DE9D-1D87-3734-5CC7-CBB0F6EEE305}"/>
                    </a:ext>
                  </a:extLst>
                </p:cNvPr>
                <p:cNvSpPr/>
                <p:nvPr/>
              </p:nvSpPr>
              <p:spPr>
                <a:xfrm>
                  <a:off x="2068497" y="2574524"/>
                  <a:ext cx="861134" cy="457509"/>
                </a:xfrm>
                <a:prstGeom prst="rect">
                  <a:avLst/>
                </a:prstGeom>
                <a:ln>
                  <a:noFill/>
                </a:ln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l-GR"/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90FB0EC-1482-1364-B08A-9F34F4A69418}"/>
                    </a:ext>
                  </a:extLst>
                </p:cNvPr>
                <p:cNvSpPr txBox="1"/>
                <p:nvPr/>
              </p:nvSpPr>
              <p:spPr>
                <a:xfrm>
                  <a:off x="2068497" y="2618612"/>
                  <a:ext cx="861134" cy="4369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dirty="0"/>
                    <a:t>1.2.2</a:t>
                  </a:r>
                </a:p>
              </p:txBody>
            </p:sp>
          </p:grpSp>
          <p:grpSp>
            <p:nvGrpSpPr>
              <p:cNvPr id="73" name="Ομάδα 72">
                <a:extLst>
                  <a:ext uri="{FF2B5EF4-FFF2-40B4-BE49-F238E27FC236}">
                    <a16:creationId xmlns:a16="http://schemas.microsoft.com/office/drawing/2014/main" id="{9811851C-E4EA-A56E-27A2-A1C50CFDD09C}"/>
                  </a:ext>
                </a:extLst>
              </p:cNvPr>
              <p:cNvGrpSpPr/>
              <p:nvPr/>
            </p:nvGrpSpPr>
            <p:grpSpPr>
              <a:xfrm>
                <a:off x="2068497" y="4400465"/>
                <a:ext cx="861134" cy="481040"/>
                <a:chOff x="2068497" y="2574524"/>
                <a:chExt cx="861134" cy="481040"/>
              </a:xfrm>
            </p:grpSpPr>
            <p:sp>
              <p:nvSpPr>
                <p:cNvPr id="86" name="Ορθογώνιο 85">
                  <a:extLst>
                    <a:ext uri="{FF2B5EF4-FFF2-40B4-BE49-F238E27FC236}">
                      <a16:creationId xmlns:a16="http://schemas.microsoft.com/office/drawing/2014/main" id="{B2A1E0BA-1FD3-379F-9BA2-8C6366238805}"/>
                    </a:ext>
                  </a:extLst>
                </p:cNvPr>
                <p:cNvSpPr/>
                <p:nvPr/>
              </p:nvSpPr>
              <p:spPr>
                <a:xfrm>
                  <a:off x="2068497" y="2574524"/>
                  <a:ext cx="861134" cy="457509"/>
                </a:xfrm>
                <a:prstGeom prst="rect">
                  <a:avLst/>
                </a:prstGeom>
                <a:ln>
                  <a:noFill/>
                </a:ln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l-GR"/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DFB68479-C4F0-9BE1-9327-295D5E23C2F3}"/>
                    </a:ext>
                  </a:extLst>
                </p:cNvPr>
                <p:cNvSpPr txBox="1"/>
                <p:nvPr/>
              </p:nvSpPr>
              <p:spPr>
                <a:xfrm>
                  <a:off x="2068497" y="2618612"/>
                  <a:ext cx="861134" cy="4369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dirty="0"/>
                    <a:t>1.2.3</a:t>
                  </a:r>
                </a:p>
              </p:txBody>
            </p:sp>
          </p:grpSp>
          <p:grpSp>
            <p:nvGrpSpPr>
              <p:cNvPr id="74" name="Ομάδα 73">
                <a:extLst>
                  <a:ext uri="{FF2B5EF4-FFF2-40B4-BE49-F238E27FC236}">
                    <a16:creationId xmlns:a16="http://schemas.microsoft.com/office/drawing/2014/main" id="{80503DBD-83B7-AA76-75DD-801E277B2862}"/>
                  </a:ext>
                </a:extLst>
              </p:cNvPr>
              <p:cNvGrpSpPr/>
              <p:nvPr/>
            </p:nvGrpSpPr>
            <p:grpSpPr>
              <a:xfrm>
                <a:off x="2068497" y="5153172"/>
                <a:ext cx="861134" cy="481040"/>
                <a:chOff x="2068497" y="2574524"/>
                <a:chExt cx="861134" cy="481040"/>
              </a:xfrm>
            </p:grpSpPr>
            <p:sp>
              <p:nvSpPr>
                <p:cNvPr id="84" name="Ορθογώνιο 83">
                  <a:extLst>
                    <a:ext uri="{FF2B5EF4-FFF2-40B4-BE49-F238E27FC236}">
                      <a16:creationId xmlns:a16="http://schemas.microsoft.com/office/drawing/2014/main" id="{9F6ADD0C-E8EB-DB46-60CA-3D5996072750}"/>
                    </a:ext>
                  </a:extLst>
                </p:cNvPr>
                <p:cNvSpPr/>
                <p:nvPr/>
              </p:nvSpPr>
              <p:spPr>
                <a:xfrm>
                  <a:off x="2068497" y="2574524"/>
                  <a:ext cx="861134" cy="457509"/>
                </a:xfrm>
                <a:prstGeom prst="rect">
                  <a:avLst/>
                </a:prstGeom>
                <a:ln>
                  <a:noFill/>
                </a:ln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l-GR"/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312A26B4-23E5-FD1B-98BA-75130C20DE5F}"/>
                    </a:ext>
                  </a:extLst>
                </p:cNvPr>
                <p:cNvSpPr txBox="1"/>
                <p:nvPr/>
              </p:nvSpPr>
              <p:spPr>
                <a:xfrm>
                  <a:off x="2068497" y="2618612"/>
                  <a:ext cx="861134" cy="4369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dirty="0"/>
                    <a:t>1.2.4</a:t>
                  </a:r>
                </a:p>
              </p:txBody>
            </p:sp>
          </p:grpSp>
          <p:grpSp>
            <p:nvGrpSpPr>
              <p:cNvPr id="75" name="Ομάδα 74">
                <a:extLst>
                  <a:ext uri="{FF2B5EF4-FFF2-40B4-BE49-F238E27FC236}">
                    <a16:creationId xmlns:a16="http://schemas.microsoft.com/office/drawing/2014/main" id="{F21EE7A5-DCA6-186B-960C-23752235E1DC}"/>
                  </a:ext>
                </a:extLst>
              </p:cNvPr>
              <p:cNvGrpSpPr/>
              <p:nvPr/>
            </p:nvGrpSpPr>
            <p:grpSpPr>
              <a:xfrm>
                <a:off x="3729361" y="2971491"/>
                <a:ext cx="861134" cy="481039"/>
                <a:chOff x="2068497" y="2574524"/>
                <a:chExt cx="861134" cy="481039"/>
              </a:xfrm>
            </p:grpSpPr>
            <p:sp>
              <p:nvSpPr>
                <p:cNvPr id="82" name="Ορθογώνιο 81">
                  <a:extLst>
                    <a:ext uri="{FF2B5EF4-FFF2-40B4-BE49-F238E27FC236}">
                      <a16:creationId xmlns:a16="http://schemas.microsoft.com/office/drawing/2014/main" id="{5FBDA67E-E1C9-DA90-E093-5BE47DA7F06A}"/>
                    </a:ext>
                  </a:extLst>
                </p:cNvPr>
                <p:cNvSpPr/>
                <p:nvPr/>
              </p:nvSpPr>
              <p:spPr>
                <a:xfrm>
                  <a:off x="2068497" y="2574524"/>
                  <a:ext cx="861134" cy="457509"/>
                </a:xfrm>
                <a:prstGeom prst="rect">
                  <a:avLst/>
                </a:prstGeom>
                <a:ln>
                  <a:noFill/>
                </a:ln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l-GR"/>
                </a:p>
              </p:txBody>
            </p: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2815ABED-CC79-58C3-2F75-DC4BA3EB69DF}"/>
                    </a:ext>
                  </a:extLst>
                </p:cNvPr>
                <p:cNvSpPr txBox="1"/>
                <p:nvPr/>
              </p:nvSpPr>
              <p:spPr>
                <a:xfrm>
                  <a:off x="2068497" y="2618612"/>
                  <a:ext cx="861134" cy="4369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dirty="0"/>
                    <a:t>2.2.1</a:t>
                  </a:r>
                </a:p>
              </p:txBody>
            </p:sp>
          </p:grpSp>
          <p:grpSp>
            <p:nvGrpSpPr>
              <p:cNvPr id="76" name="Ομάδα 75">
                <a:extLst>
                  <a:ext uri="{FF2B5EF4-FFF2-40B4-BE49-F238E27FC236}">
                    <a16:creationId xmlns:a16="http://schemas.microsoft.com/office/drawing/2014/main" id="{057CD2DC-4289-C04F-4C1F-CF6491CA5888}"/>
                  </a:ext>
                </a:extLst>
              </p:cNvPr>
              <p:cNvGrpSpPr/>
              <p:nvPr/>
            </p:nvGrpSpPr>
            <p:grpSpPr>
              <a:xfrm>
                <a:off x="3729361" y="4753052"/>
                <a:ext cx="861134" cy="481039"/>
                <a:chOff x="2068497" y="2574524"/>
                <a:chExt cx="861134" cy="481039"/>
              </a:xfrm>
            </p:grpSpPr>
            <p:sp>
              <p:nvSpPr>
                <p:cNvPr id="80" name="Ορθογώνιο 79">
                  <a:extLst>
                    <a:ext uri="{FF2B5EF4-FFF2-40B4-BE49-F238E27FC236}">
                      <a16:creationId xmlns:a16="http://schemas.microsoft.com/office/drawing/2014/main" id="{DE6C6A9C-70C1-9CDD-1C08-054ACC87EBF8}"/>
                    </a:ext>
                  </a:extLst>
                </p:cNvPr>
                <p:cNvSpPr/>
                <p:nvPr/>
              </p:nvSpPr>
              <p:spPr>
                <a:xfrm>
                  <a:off x="2068497" y="2574524"/>
                  <a:ext cx="861134" cy="457509"/>
                </a:xfrm>
                <a:prstGeom prst="rect">
                  <a:avLst/>
                </a:prstGeom>
                <a:ln>
                  <a:noFill/>
                </a:ln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l-GR"/>
                </a:p>
              </p:txBody>
            </p:sp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158F8A13-68D5-CD4E-F186-95B0B56F1F7C}"/>
                    </a:ext>
                  </a:extLst>
                </p:cNvPr>
                <p:cNvSpPr txBox="1"/>
                <p:nvPr/>
              </p:nvSpPr>
              <p:spPr>
                <a:xfrm>
                  <a:off x="2068497" y="2618612"/>
                  <a:ext cx="861134" cy="4369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dirty="0"/>
                    <a:t>2.2.2</a:t>
                  </a:r>
                </a:p>
              </p:txBody>
            </p:sp>
          </p:grpSp>
          <p:grpSp>
            <p:nvGrpSpPr>
              <p:cNvPr id="77" name="Ομάδα 76">
                <a:extLst>
                  <a:ext uri="{FF2B5EF4-FFF2-40B4-BE49-F238E27FC236}">
                    <a16:creationId xmlns:a16="http://schemas.microsoft.com/office/drawing/2014/main" id="{4CAC8BD9-8D2E-EC22-7E08-B62C47AECFD5}"/>
                  </a:ext>
                </a:extLst>
              </p:cNvPr>
              <p:cNvGrpSpPr/>
              <p:nvPr/>
            </p:nvGrpSpPr>
            <p:grpSpPr>
              <a:xfrm>
                <a:off x="5100962" y="3825968"/>
                <a:ext cx="861134" cy="481039"/>
                <a:chOff x="2068497" y="2574524"/>
                <a:chExt cx="861134" cy="481039"/>
              </a:xfrm>
            </p:grpSpPr>
            <p:sp>
              <p:nvSpPr>
                <p:cNvPr id="78" name="Ορθογώνιο 77">
                  <a:extLst>
                    <a:ext uri="{FF2B5EF4-FFF2-40B4-BE49-F238E27FC236}">
                      <a16:creationId xmlns:a16="http://schemas.microsoft.com/office/drawing/2014/main" id="{6B4710D5-3D45-3836-D9BD-EC32A3C35E7A}"/>
                    </a:ext>
                  </a:extLst>
                </p:cNvPr>
                <p:cNvSpPr/>
                <p:nvPr/>
              </p:nvSpPr>
              <p:spPr>
                <a:xfrm>
                  <a:off x="2068497" y="2574524"/>
                  <a:ext cx="861134" cy="457509"/>
                </a:xfrm>
                <a:prstGeom prst="rect">
                  <a:avLst/>
                </a:prstGeom>
                <a:ln>
                  <a:noFill/>
                </a:ln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l-GR"/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CC48A61B-2A54-EDEE-3178-962595D5332D}"/>
                    </a:ext>
                  </a:extLst>
                </p:cNvPr>
                <p:cNvSpPr txBox="1"/>
                <p:nvPr/>
              </p:nvSpPr>
              <p:spPr>
                <a:xfrm>
                  <a:off x="2068497" y="2618612"/>
                  <a:ext cx="861134" cy="4369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dirty="0"/>
                    <a:t>3.2.1</a:t>
                  </a:r>
                </a:p>
              </p:txBody>
            </p:sp>
          </p:grpSp>
        </p:grpSp>
        <p:grpSp>
          <p:nvGrpSpPr>
            <p:cNvPr id="94" name="Ομάδα 93">
              <a:extLst>
                <a:ext uri="{FF2B5EF4-FFF2-40B4-BE49-F238E27FC236}">
                  <a16:creationId xmlns:a16="http://schemas.microsoft.com/office/drawing/2014/main" id="{2D940F21-833A-88AB-0C0F-95A2C30D2AB7}"/>
                </a:ext>
              </a:extLst>
            </p:cNvPr>
            <p:cNvGrpSpPr/>
            <p:nvPr/>
          </p:nvGrpSpPr>
          <p:grpSpPr>
            <a:xfrm>
              <a:off x="6953923" y="3799684"/>
              <a:ext cx="1011440" cy="386708"/>
              <a:chOff x="6953923" y="3799684"/>
              <a:chExt cx="1011440" cy="386708"/>
            </a:xfrm>
          </p:grpSpPr>
          <p:sp>
            <p:nvSpPr>
              <p:cNvPr id="92" name="Ορθογώνιο 91">
                <a:extLst>
                  <a:ext uri="{FF2B5EF4-FFF2-40B4-BE49-F238E27FC236}">
                    <a16:creationId xmlns:a16="http://schemas.microsoft.com/office/drawing/2014/main" id="{C14B8458-2317-DC34-EA64-7E08490404C9}"/>
                  </a:ext>
                </a:extLst>
              </p:cNvPr>
              <p:cNvSpPr/>
              <p:nvPr/>
            </p:nvSpPr>
            <p:spPr>
              <a:xfrm>
                <a:off x="6953923" y="3799684"/>
                <a:ext cx="1011440" cy="386708"/>
              </a:xfrm>
              <a:prstGeom prst="rect">
                <a:avLst/>
              </a:prstGeom>
              <a:ln>
                <a:noFill/>
              </a:ln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l-GR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1BE6B70-A0C3-3DBB-9149-3C1387C9DE52}"/>
                  </a:ext>
                </a:extLst>
              </p:cNvPr>
              <p:cNvSpPr txBox="1"/>
              <p:nvPr/>
            </p:nvSpPr>
            <p:spPr>
              <a:xfrm>
                <a:off x="7052624" y="3799684"/>
                <a:ext cx="8140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dirty="0"/>
                  <a:t>4.1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17495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DC75596-FF6A-7B81-0B24-9A9ACDDA0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Αλγόριθμος Σχηματισμού Δέντρου Τουρνουά</a:t>
            </a:r>
          </a:p>
        </p:txBody>
      </p:sp>
      <p:grpSp>
        <p:nvGrpSpPr>
          <p:cNvPr id="38" name="Ομάδα 37">
            <a:extLst>
              <a:ext uri="{FF2B5EF4-FFF2-40B4-BE49-F238E27FC236}">
                <a16:creationId xmlns:a16="http://schemas.microsoft.com/office/drawing/2014/main" id="{26FEBB01-8623-6748-7D81-85DED5BA29D7}"/>
              </a:ext>
            </a:extLst>
          </p:cNvPr>
          <p:cNvGrpSpPr/>
          <p:nvPr/>
        </p:nvGrpSpPr>
        <p:grpSpPr>
          <a:xfrm>
            <a:off x="3116062" y="1843245"/>
            <a:ext cx="6267635" cy="3794075"/>
            <a:chOff x="3116062" y="1843245"/>
            <a:chExt cx="6267635" cy="3794075"/>
          </a:xfrm>
        </p:grpSpPr>
        <p:grpSp>
          <p:nvGrpSpPr>
            <p:cNvPr id="31" name="Ομάδα 30">
              <a:extLst>
                <a:ext uri="{FF2B5EF4-FFF2-40B4-BE49-F238E27FC236}">
                  <a16:creationId xmlns:a16="http://schemas.microsoft.com/office/drawing/2014/main" id="{4E853AD9-6359-7B45-B0B2-DAEB7C8C57BF}"/>
                </a:ext>
              </a:extLst>
            </p:cNvPr>
            <p:cNvGrpSpPr/>
            <p:nvPr/>
          </p:nvGrpSpPr>
          <p:grpSpPr>
            <a:xfrm>
              <a:off x="3116062" y="1843245"/>
              <a:ext cx="6267635" cy="3794075"/>
              <a:chOff x="1296140" y="2439172"/>
              <a:chExt cx="4665956" cy="3171509"/>
            </a:xfrm>
          </p:grpSpPr>
          <p:grpSp>
            <p:nvGrpSpPr>
              <p:cNvPr id="6" name="Ομάδα 5">
                <a:extLst>
                  <a:ext uri="{FF2B5EF4-FFF2-40B4-BE49-F238E27FC236}">
                    <a16:creationId xmlns:a16="http://schemas.microsoft.com/office/drawing/2014/main" id="{E3288E76-16FA-FA2B-B86F-A9D6E899A452}"/>
                  </a:ext>
                </a:extLst>
              </p:cNvPr>
              <p:cNvGrpSpPr/>
              <p:nvPr/>
            </p:nvGrpSpPr>
            <p:grpSpPr>
              <a:xfrm>
                <a:off x="2068497" y="2709515"/>
                <a:ext cx="861134" cy="457509"/>
                <a:chOff x="2068497" y="2574524"/>
                <a:chExt cx="861134" cy="457509"/>
              </a:xfrm>
            </p:grpSpPr>
            <p:sp>
              <p:nvSpPr>
                <p:cNvPr id="4" name="Ορθογώνιο 3">
                  <a:extLst>
                    <a:ext uri="{FF2B5EF4-FFF2-40B4-BE49-F238E27FC236}">
                      <a16:creationId xmlns:a16="http://schemas.microsoft.com/office/drawing/2014/main" id="{57B53C5C-6935-9966-6FBC-13B481601AF9}"/>
                    </a:ext>
                  </a:extLst>
                </p:cNvPr>
                <p:cNvSpPr/>
                <p:nvPr/>
              </p:nvSpPr>
              <p:spPr>
                <a:xfrm>
                  <a:off x="2068497" y="2574524"/>
                  <a:ext cx="861134" cy="457509"/>
                </a:xfrm>
                <a:prstGeom prst="rect">
                  <a:avLst/>
                </a:prstGeom>
                <a:ln>
                  <a:noFill/>
                </a:ln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l-GR"/>
                </a:p>
              </p:txBody>
            </p:sp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F145A2C5-41D3-E507-982A-B5EFB567DD57}"/>
                    </a:ext>
                  </a:extLst>
                </p:cNvPr>
                <p:cNvSpPr txBox="1"/>
                <p:nvPr/>
              </p:nvSpPr>
              <p:spPr>
                <a:xfrm>
                  <a:off x="2068497" y="2618612"/>
                  <a:ext cx="861134" cy="30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dirty="0"/>
                    <a:t>0,0</a:t>
                  </a:r>
                </a:p>
              </p:txBody>
            </p:sp>
          </p:grpSp>
          <p:grpSp>
            <p:nvGrpSpPr>
              <p:cNvPr id="7" name="Ομάδα 6">
                <a:extLst>
                  <a:ext uri="{FF2B5EF4-FFF2-40B4-BE49-F238E27FC236}">
                    <a16:creationId xmlns:a16="http://schemas.microsoft.com/office/drawing/2014/main" id="{85419129-61EF-C45B-B303-9088CD0C24BC}"/>
                  </a:ext>
                </a:extLst>
              </p:cNvPr>
              <p:cNvGrpSpPr/>
              <p:nvPr/>
            </p:nvGrpSpPr>
            <p:grpSpPr>
              <a:xfrm>
                <a:off x="2068497" y="3462222"/>
                <a:ext cx="861134" cy="457509"/>
                <a:chOff x="2068497" y="2574524"/>
                <a:chExt cx="861134" cy="457509"/>
              </a:xfrm>
            </p:grpSpPr>
            <p:sp>
              <p:nvSpPr>
                <p:cNvPr id="8" name="Ορθογώνιο 7">
                  <a:extLst>
                    <a:ext uri="{FF2B5EF4-FFF2-40B4-BE49-F238E27FC236}">
                      <a16:creationId xmlns:a16="http://schemas.microsoft.com/office/drawing/2014/main" id="{727D3959-01BF-26FB-D4CF-3A0FF24210DA}"/>
                    </a:ext>
                  </a:extLst>
                </p:cNvPr>
                <p:cNvSpPr/>
                <p:nvPr/>
              </p:nvSpPr>
              <p:spPr>
                <a:xfrm>
                  <a:off x="2068497" y="2574524"/>
                  <a:ext cx="861134" cy="457509"/>
                </a:xfrm>
                <a:prstGeom prst="rect">
                  <a:avLst/>
                </a:prstGeom>
                <a:ln>
                  <a:noFill/>
                </a:ln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l-GR"/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0C47960-0B01-16B8-7D05-1A83E3DC2DEA}"/>
                    </a:ext>
                  </a:extLst>
                </p:cNvPr>
                <p:cNvSpPr txBox="1"/>
                <p:nvPr/>
              </p:nvSpPr>
              <p:spPr>
                <a:xfrm>
                  <a:off x="2068497" y="2618612"/>
                  <a:ext cx="861134" cy="30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dirty="0"/>
                    <a:t>8,0</a:t>
                  </a:r>
                </a:p>
              </p:txBody>
            </p:sp>
          </p:grpSp>
          <p:grpSp>
            <p:nvGrpSpPr>
              <p:cNvPr id="10" name="Ομάδα 9">
                <a:extLst>
                  <a:ext uri="{FF2B5EF4-FFF2-40B4-BE49-F238E27FC236}">
                    <a16:creationId xmlns:a16="http://schemas.microsoft.com/office/drawing/2014/main" id="{3818500F-09ED-C75A-AA23-A0B97A3B6607}"/>
                  </a:ext>
                </a:extLst>
              </p:cNvPr>
              <p:cNvGrpSpPr/>
              <p:nvPr/>
            </p:nvGrpSpPr>
            <p:grpSpPr>
              <a:xfrm>
                <a:off x="2068497" y="4400465"/>
                <a:ext cx="861134" cy="457509"/>
                <a:chOff x="2068497" y="2574524"/>
                <a:chExt cx="861134" cy="457509"/>
              </a:xfrm>
            </p:grpSpPr>
            <p:sp>
              <p:nvSpPr>
                <p:cNvPr id="11" name="Ορθογώνιο 10">
                  <a:extLst>
                    <a:ext uri="{FF2B5EF4-FFF2-40B4-BE49-F238E27FC236}">
                      <a16:creationId xmlns:a16="http://schemas.microsoft.com/office/drawing/2014/main" id="{AB47972C-08C2-1892-3283-D3D6377D90DB}"/>
                    </a:ext>
                  </a:extLst>
                </p:cNvPr>
                <p:cNvSpPr/>
                <p:nvPr/>
              </p:nvSpPr>
              <p:spPr>
                <a:xfrm>
                  <a:off x="2068497" y="2574524"/>
                  <a:ext cx="861134" cy="457509"/>
                </a:xfrm>
                <a:prstGeom prst="rect">
                  <a:avLst/>
                </a:prstGeom>
                <a:ln>
                  <a:noFill/>
                </a:ln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l-GR"/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FE9B483-5D01-B86B-4B51-6E41820E8B4D}"/>
                    </a:ext>
                  </a:extLst>
                </p:cNvPr>
                <p:cNvSpPr txBox="1"/>
                <p:nvPr/>
              </p:nvSpPr>
              <p:spPr>
                <a:xfrm>
                  <a:off x="2068497" y="2618612"/>
                  <a:ext cx="861134" cy="30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dirty="0"/>
                    <a:t>16,0</a:t>
                  </a:r>
                </a:p>
              </p:txBody>
            </p:sp>
          </p:grpSp>
          <p:grpSp>
            <p:nvGrpSpPr>
              <p:cNvPr id="13" name="Ομάδα 12">
                <a:extLst>
                  <a:ext uri="{FF2B5EF4-FFF2-40B4-BE49-F238E27FC236}">
                    <a16:creationId xmlns:a16="http://schemas.microsoft.com/office/drawing/2014/main" id="{80F2929C-327C-BB32-8382-DC120758A80B}"/>
                  </a:ext>
                </a:extLst>
              </p:cNvPr>
              <p:cNvGrpSpPr/>
              <p:nvPr/>
            </p:nvGrpSpPr>
            <p:grpSpPr>
              <a:xfrm>
                <a:off x="2068497" y="5153172"/>
                <a:ext cx="861134" cy="457509"/>
                <a:chOff x="2068497" y="2574524"/>
                <a:chExt cx="861134" cy="457509"/>
              </a:xfrm>
            </p:grpSpPr>
            <p:sp>
              <p:nvSpPr>
                <p:cNvPr id="14" name="Ορθογώνιο 13">
                  <a:extLst>
                    <a:ext uri="{FF2B5EF4-FFF2-40B4-BE49-F238E27FC236}">
                      <a16:creationId xmlns:a16="http://schemas.microsoft.com/office/drawing/2014/main" id="{E48D7292-4244-FAF1-99FE-122F49E5120A}"/>
                    </a:ext>
                  </a:extLst>
                </p:cNvPr>
                <p:cNvSpPr/>
                <p:nvPr/>
              </p:nvSpPr>
              <p:spPr>
                <a:xfrm>
                  <a:off x="2068497" y="2574524"/>
                  <a:ext cx="861134" cy="457509"/>
                </a:xfrm>
                <a:prstGeom prst="rect">
                  <a:avLst/>
                </a:prstGeom>
                <a:ln>
                  <a:noFill/>
                </a:ln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l-GR"/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A04E3BE-56E4-A4B7-9EA6-65D1E37636A9}"/>
                    </a:ext>
                  </a:extLst>
                </p:cNvPr>
                <p:cNvSpPr txBox="1"/>
                <p:nvPr/>
              </p:nvSpPr>
              <p:spPr>
                <a:xfrm>
                  <a:off x="2068497" y="2618612"/>
                  <a:ext cx="861134" cy="30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dirty="0"/>
                    <a:t>24,0</a:t>
                  </a:r>
                </a:p>
              </p:txBody>
            </p:sp>
          </p:grpSp>
          <p:grpSp>
            <p:nvGrpSpPr>
              <p:cNvPr id="16" name="Ομάδα 15">
                <a:extLst>
                  <a:ext uri="{FF2B5EF4-FFF2-40B4-BE49-F238E27FC236}">
                    <a16:creationId xmlns:a16="http://schemas.microsoft.com/office/drawing/2014/main" id="{71D31B75-6175-EF0B-7647-8AB4F0523932}"/>
                  </a:ext>
                </a:extLst>
              </p:cNvPr>
              <p:cNvGrpSpPr/>
              <p:nvPr/>
            </p:nvGrpSpPr>
            <p:grpSpPr>
              <a:xfrm>
                <a:off x="3729361" y="2971491"/>
                <a:ext cx="861134" cy="457509"/>
                <a:chOff x="2068497" y="2574524"/>
                <a:chExt cx="861134" cy="457509"/>
              </a:xfrm>
            </p:grpSpPr>
            <p:sp>
              <p:nvSpPr>
                <p:cNvPr id="17" name="Ορθογώνιο 16">
                  <a:extLst>
                    <a:ext uri="{FF2B5EF4-FFF2-40B4-BE49-F238E27FC236}">
                      <a16:creationId xmlns:a16="http://schemas.microsoft.com/office/drawing/2014/main" id="{B3638929-C0C9-9C74-F909-48A970DD425E}"/>
                    </a:ext>
                  </a:extLst>
                </p:cNvPr>
                <p:cNvSpPr/>
                <p:nvPr/>
              </p:nvSpPr>
              <p:spPr>
                <a:xfrm>
                  <a:off x="2068497" y="2574524"/>
                  <a:ext cx="861134" cy="457509"/>
                </a:xfrm>
                <a:prstGeom prst="rect">
                  <a:avLst/>
                </a:prstGeom>
                <a:ln>
                  <a:noFill/>
                </a:ln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l-GR"/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0EEDD2F-1A69-A734-CA58-2C072F57F172}"/>
                    </a:ext>
                  </a:extLst>
                </p:cNvPr>
                <p:cNvSpPr txBox="1"/>
                <p:nvPr/>
              </p:nvSpPr>
              <p:spPr>
                <a:xfrm>
                  <a:off x="2068497" y="2618612"/>
                  <a:ext cx="861134" cy="30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dirty="0"/>
                    <a:t>4,4</a:t>
                  </a:r>
                </a:p>
              </p:txBody>
            </p:sp>
          </p:grpSp>
          <p:grpSp>
            <p:nvGrpSpPr>
              <p:cNvPr id="19" name="Ομάδα 18">
                <a:extLst>
                  <a:ext uri="{FF2B5EF4-FFF2-40B4-BE49-F238E27FC236}">
                    <a16:creationId xmlns:a16="http://schemas.microsoft.com/office/drawing/2014/main" id="{7B83CD2A-3955-5178-F24F-3C8EBDB3FD0E}"/>
                  </a:ext>
                </a:extLst>
              </p:cNvPr>
              <p:cNvGrpSpPr/>
              <p:nvPr/>
            </p:nvGrpSpPr>
            <p:grpSpPr>
              <a:xfrm>
                <a:off x="3729361" y="4753052"/>
                <a:ext cx="861134" cy="457509"/>
                <a:chOff x="2068497" y="2574524"/>
                <a:chExt cx="861134" cy="457509"/>
              </a:xfrm>
            </p:grpSpPr>
            <p:sp>
              <p:nvSpPr>
                <p:cNvPr id="20" name="Ορθογώνιο 19">
                  <a:extLst>
                    <a:ext uri="{FF2B5EF4-FFF2-40B4-BE49-F238E27FC236}">
                      <a16:creationId xmlns:a16="http://schemas.microsoft.com/office/drawing/2014/main" id="{738DDB6C-252C-6ED1-CA2C-E9C6C730348F}"/>
                    </a:ext>
                  </a:extLst>
                </p:cNvPr>
                <p:cNvSpPr/>
                <p:nvPr/>
              </p:nvSpPr>
              <p:spPr>
                <a:xfrm>
                  <a:off x="2068497" y="2574524"/>
                  <a:ext cx="861134" cy="457509"/>
                </a:xfrm>
                <a:prstGeom prst="rect">
                  <a:avLst/>
                </a:prstGeom>
                <a:ln>
                  <a:noFill/>
                </a:ln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l-GR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80AADE7-8DA8-E843-E43A-3E61FD48A4D0}"/>
                    </a:ext>
                  </a:extLst>
                </p:cNvPr>
                <p:cNvSpPr txBox="1"/>
                <p:nvPr/>
              </p:nvSpPr>
              <p:spPr>
                <a:xfrm>
                  <a:off x="2068497" y="2618612"/>
                  <a:ext cx="861134" cy="30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dirty="0"/>
                    <a:t>20,4</a:t>
                  </a:r>
                </a:p>
              </p:txBody>
            </p:sp>
          </p:grpSp>
          <p:grpSp>
            <p:nvGrpSpPr>
              <p:cNvPr id="22" name="Ομάδα 21">
                <a:extLst>
                  <a:ext uri="{FF2B5EF4-FFF2-40B4-BE49-F238E27FC236}">
                    <a16:creationId xmlns:a16="http://schemas.microsoft.com/office/drawing/2014/main" id="{ACBDBFD6-4D06-9E19-ABA5-C389F424EF11}"/>
                  </a:ext>
                </a:extLst>
              </p:cNvPr>
              <p:cNvGrpSpPr/>
              <p:nvPr/>
            </p:nvGrpSpPr>
            <p:grpSpPr>
              <a:xfrm>
                <a:off x="5100962" y="3825968"/>
                <a:ext cx="861134" cy="457509"/>
                <a:chOff x="2068497" y="2574524"/>
                <a:chExt cx="861134" cy="457509"/>
              </a:xfrm>
            </p:grpSpPr>
            <p:sp>
              <p:nvSpPr>
                <p:cNvPr id="23" name="Ορθογώνιο 22">
                  <a:extLst>
                    <a:ext uri="{FF2B5EF4-FFF2-40B4-BE49-F238E27FC236}">
                      <a16:creationId xmlns:a16="http://schemas.microsoft.com/office/drawing/2014/main" id="{E15AC403-EE2F-2036-CD72-FD18201AA91E}"/>
                    </a:ext>
                  </a:extLst>
                </p:cNvPr>
                <p:cNvSpPr/>
                <p:nvPr/>
              </p:nvSpPr>
              <p:spPr>
                <a:xfrm>
                  <a:off x="2068497" y="2574524"/>
                  <a:ext cx="861134" cy="457509"/>
                </a:xfrm>
                <a:prstGeom prst="rect">
                  <a:avLst/>
                </a:prstGeom>
                <a:ln>
                  <a:noFill/>
                </a:ln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l-GR"/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09400D9-E809-3651-79E8-0293E1FAF0FC}"/>
                    </a:ext>
                  </a:extLst>
                </p:cNvPr>
                <p:cNvSpPr txBox="1"/>
                <p:nvPr/>
              </p:nvSpPr>
              <p:spPr>
                <a:xfrm>
                  <a:off x="2068497" y="2618612"/>
                  <a:ext cx="861134" cy="30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dirty="0"/>
                    <a:t>12,8</a:t>
                  </a:r>
                </a:p>
              </p:txBody>
            </p:sp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075BB86-775A-D183-87B1-BC54D3BFEBFC}"/>
                  </a:ext>
                </a:extLst>
              </p:cNvPr>
              <p:cNvSpPr txBox="1"/>
              <p:nvPr/>
            </p:nvSpPr>
            <p:spPr>
              <a:xfrm>
                <a:off x="1296140" y="3139707"/>
                <a:ext cx="1748901" cy="488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1600" dirty="0"/>
                  <a:t>+</a:t>
                </a:r>
                <a:r>
                  <a:rPr lang="en-US" sz="1600" dirty="0"/>
                  <a:t>add_param = 8</a:t>
                </a:r>
              </a:p>
              <a:p>
                <a:pPr algn="ctr"/>
                <a:endParaRPr lang="el-GR" sz="1600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82F6983-6449-A1CA-7853-A5A0C6C24C92}"/>
                  </a:ext>
                </a:extLst>
              </p:cNvPr>
              <p:cNvSpPr txBox="1"/>
              <p:nvPr/>
            </p:nvSpPr>
            <p:spPr>
              <a:xfrm>
                <a:off x="1296140" y="4019680"/>
                <a:ext cx="1748901" cy="488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1600" dirty="0"/>
                  <a:t>+</a:t>
                </a:r>
                <a:r>
                  <a:rPr lang="en-US" sz="1600" dirty="0"/>
                  <a:t>add_param = 8</a:t>
                </a:r>
              </a:p>
              <a:p>
                <a:pPr algn="ctr"/>
                <a:endParaRPr lang="el-GR" sz="1600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C7E9156-FFA6-37BA-2452-F36144B81C8B}"/>
                  </a:ext>
                </a:extLst>
              </p:cNvPr>
              <p:cNvSpPr txBox="1"/>
              <p:nvPr/>
            </p:nvSpPr>
            <p:spPr>
              <a:xfrm>
                <a:off x="1296140" y="4855941"/>
                <a:ext cx="1748901" cy="488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1600" dirty="0"/>
                  <a:t>+</a:t>
                </a:r>
                <a:r>
                  <a:rPr lang="en-US" sz="1600" dirty="0"/>
                  <a:t>add_param = 8</a:t>
                </a:r>
              </a:p>
              <a:p>
                <a:pPr algn="ctr"/>
                <a:endParaRPr lang="el-GR" sz="1600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D5B69C6-26D8-984A-7608-AB09BCDD9884}"/>
                  </a:ext>
                </a:extLst>
              </p:cNvPr>
              <p:cNvSpPr txBox="1"/>
              <p:nvPr/>
            </p:nvSpPr>
            <p:spPr>
              <a:xfrm>
                <a:off x="2929632" y="2439172"/>
                <a:ext cx="861134" cy="488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1600" dirty="0"/>
                  <a:t>+</a:t>
                </a:r>
                <a:r>
                  <a:rPr lang="en-US" sz="1600" dirty="0"/>
                  <a:t>col = 4</a:t>
                </a:r>
              </a:p>
              <a:p>
                <a:pPr algn="ctr"/>
                <a:endParaRPr lang="el-GR" sz="1600" dirty="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E4269B7-B28C-C289-E627-12DDB8C129FA}"/>
                  </a:ext>
                </a:extLst>
              </p:cNvPr>
              <p:cNvSpPr txBox="1"/>
              <p:nvPr/>
            </p:nvSpPr>
            <p:spPr>
              <a:xfrm>
                <a:off x="4573479" y="2439172"/>
                <a:ext cx="861134" cy="488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1600" dirty="0"/>
                  <a:t>+</a:t>
                </a:r>
                <a:r>
                  <a:rPr lang="en-US" sz="1600" dirty="0"/>
                  <a:t>col = 4</a:t>
                </a:r>
              </a:p>
              <a:p>
                <a:pPr algn="ctr"/>
                <a:endParaRPr lang="el-GR" sz="1600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28B2C06-2471-C70A-3B03-FA7516067EAF}"/>
                  </a:ext>
                </a:extLst>
              </p:cNvPr>
              <p:cNvSpPr txBox="1"/>
              <p:nvPr/>
            </p:nvSpPr>
            <p:spPr>
              <a:xfrm>
                <a:off x="3198551" y="3869524"/>
                <a:ext cx="1748901" cy="488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1600" dirty="0"/>
                  <a:t>+</a:t>
                </a:r>
                <a:r>
                  <a:rPr lang="en-US" sz="1600" dirty="0"/>
                  <a:t>add_param = 16</a:t>
                </a:r>
              </a:p>
              <a:p>
                <a:pPr algn="ctr"/>
                <a:endParaRPr lang="el-GR" sz="1600" dirty="0"/>
              </a:p>
            </p:txBody>
          </p:sp>
        </p:grpSp>
        <p:sp>
          <p:nvSpPr>
            <p:cNvPr id="36" name="Βέλος: Κάτω 35">
              <a:extLst>
                <a:ext uri="{FF2B5EF4-FFF2-40B4-BE49-F238E27FC236}">
                  <a16:creationId xmlns:a16="http://schemas.microsoft.com/office/drawing/2014/main" id="{A7221697-534D-7EA2-0091-827F4D08DA80}"/>
                </a:ext>
              </a:extLst>
            </p:cNvPr>
            <p:cNvSpPr/>
            <p:nvPr/>
          </p:nvSpPr>
          <p:spPr>
            <a:xfrm>
              <a:off x="6766481" y="1906923"/>
              <a:ext cx="204186" cy="689555"/>
            </a:xfrm>
            <a:prstGeom prst="down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sp>
          <p:nvSpPr>
            <p:cNvPr id="37" name="Βέλος: Κάτω 36">
              <a:extLst>
                <a:ext uri="{FF2B5EF4-FFF2-40B4-BE49-F238E27FC236}">
                  <a16:creationId xmlns:a16="http://schemas.microsoft.com/office/drawing/2014/main" id="{D2688ED0-FFC8-7092-C553-83D7285CA49F}"/>
                </a:ext>
              </a:extLst>
            </p:cNvPr>
            <p:cNvSpPr/>
            <p:nvPr/>
          </p:nvSpPr>
          <p:spPr>
            <a:xfrm>
              <a:off x="8615521" y="2914274"/>
              <a:ext cx="204186" cy="689555"/>
            </a:xfrm>
            <a:prstGeom prst="down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</p:grpSp>
    </p:spTree>
    <p:extLst>
      <p:ext uri="{BB962C8B-B14F-4D97-AF65-F5344CB8AC3E}">
        <p14:creationId xmlns:p14="http://schemas.microsoft.com/office/powerpoint/2010/main" val="2006571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23D5C91-A763-4D78-BA5E-F5C143C61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Αγώνες (2/2)</a:t>
            </a:r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AE0C14AC-26F9-F2D9-29B7-B4FF9E10A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057" y="1690688"/>
            <a:ext cx="9535886" cy="449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2877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23D5C91-A763-4D78-BA5E-F5C143C61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Score</a:t>
            </a:r>
            <a:endParaRPr lang="el-GR" dirty="0"/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4D723AD9-0BDC-C19C-6424-180483CB4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636135" cy="2840553"/>
          </a:xfrm>
          <a:prstGeom prst="rect">
            <a:avLst/>
          </a:prstGeom>
        </p:spPr>
      </p:pic>
      <p:pic>
        <p:nvPicPr>
          <p:cNvPr id="6" name="Εικόνα 5">
            <a:extLst>
              <a:ext uri="{FF2B5EF4-FFF2-40B4-BE49-F238E27FC236}">
                <a16:creationId xmlns:a16="http://schemas.microsoft.com/office/drawing/2014/main" id="{8CAC22E5-7C6D-4B4A-5D4F-2F0CE43AC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664" y="1690688"/>
            <a:ext cx="4636136" cy="284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435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57D4748-3A99-5F57-3876-FB91478A6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Επεξήγηση Αλγορίθμου στη </a:t>
            </a:r>
            <a:r>
              <a:rPr lang="en-US" dirty="0"/>
              <a:t>Score Page</a:t>
            </a:r>
            <a:endParaRPr lang="el-GR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6A539682-E46E-4431-1831-E1866B331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5736"/>
            <a:ext cx="10515600" cy="4561227"/>
          </a:xfrm>
        </p:spPr>
        <p:txBody>
          <a:bodyPr>
            <a:normAutofit/>
          </a:bodyPr>
          <a:lstStyle/>
          <a:p>
            <a:r>
              <a:rPr lang="el-GR" dirty="0"/>
              <a:t>Εισαγωγή των κερδισμένων σετ για κάθε παίκτη στα 2 </a:t>
            </a:r>
            <a:r>
              <a:rPr lang="en-US" dirty="0"/>
              <a:t>objects </a:t>
            </a:r>
            <a:r>
              <a:rPr lang="el-GR" dirty="0"/>
              <a:t>τύπου </a:t>
            </a:r>
            <a:r>
              <a:rPr lang="en-US" dirty="0"/>
              <a:t>Entry.</a:t>
            </a:r>
          </a:p>
          <a:p>
            <a:r>
              <a:rPr lang="el-GR" dirty="0"/>
              <a:t>Επιλογή του κουμπιού «ΚΑΤΑΧΩΡΗΣΗ»</a:t>
            </a:r>
          </a:p>
          <a:p>
            <a:pPr lvl="1"/>
            <a:r>
              <a:rPr lang="el-GR" dirty="0"/>
              <a:t>Κλήση της συνάρτησης </a:t>
            </a:r>
            <a:r>
              <a:rPr lang="en-US" dirty="0" err="1"/>
              <a:t>insert_score</a:t>
            </a:r>
            <a:r>
              <a:rPr lang="en-US" dirty="0"/>
              <a:t>, </a:t>
            </a:r>
            <a:r>
              <a:rPr lang="el-GR" dirty="0"/>
              <a:t>δέχεται το </a:t>
            </a:r>
            <a:r>
              <a:rPr lang="en-US" dirty="0" err="1"/>
              <a:t>match_id</a:t>
            </a:r>
            <a:r>
              <a:rPr lang="en-US" dirty="0"/>
              <a:t> </a:t>
            </a:r>
            <a:r>
              <a:rPr lang="el-GR" dirty="0"/>
              <a:t>και το </a:t>
            </a:r>
            <a:r>
              <a:rPr lang="en-US" dirty="0" err="1"/>
              <a:t>next_round_id</a:t>
            </a:r>
            <a:r>
              <a:rPr lang="en-US" dirty="0"/>
              <a:t> </a:t>
            </a:r>
            <a:r>
              <a:rPr lang="el-GR" dirty="0"/>
              <a:t>που υπολογίστηκε μέσω του αντίστοιχου αλγορίθμου που παρουσιάστηκε νωρίτερα.</a:t>
            </a:r>
          </a:p>
          <a:p>
            <a:pPr lvl="1"/>
            <a:r>
              <a:rPr lang="el-GR" dirty="0"/>
              <a:t>Σύγκριση του αποτελέσματος σετ για τους 2 παίκτες.</a:t>
            </a:r>
          </a:p>
          <a:p>
            <a:pPr lvl="1"/>
            <a:r>
              <a:rPr lang="el-GR" dirty="0"/>
              <a:t>Καταχώρηση του αποτελέσματος στη βάση.</a:t>
            </a:r>
          </a:p>
          <a:p>
            <a:pPr lvl="2"/>
            <a:r>
              <a:rPr lang="el-GR" dirty="0"/>
              <a:t>Αναζήτηση του </a:t>
            </a:r>
            <a:r>
              <a:rPr lang="en-US" dirty="0" err="1"/>
              <a:t>next_round_id</a:t>
            </a:r>
            <a:r>
              <a:rPr lang="en-US" dirty="0"/>
              <a:t> </a:t>
            </a:r>
            <a:r>
              <a:rPr lang="el-GR" dirty="0"/>
              <a:t>στη βάση: </a:t>
            </a:r>
          </a:p>
          <a:p>
            <a:pPr lvl="3"/>
            <a:r>
              <a:rPr lang="el-GR" dirty="0"/>
              <a:t>Εάν υπάρχει, εκχωρείται ο νικητής στην θέση του </a:t>
            </a:r>
            <a:r>
              <a:rPr lang="en-US" dirty="0"/>
              <a:t>Player2 </a:t>
            </a:r>
            <a:r>
              <a:rPr lang="el-GR" dirty="0"/>
              <a:t>για το συγκεκριμένο </a:t>
            </a:r>
            <a:r>
              <a:rPr lang="en-US" dirty="0"/>
              <a:t>match.</a:t>
            </a:r>
            <a:endParaRPr lang="el-GR" dirty="0"/>
          </a:p>
          <a:p>
            <a:pPr lvl="3"/>
            <a:r>
              <a:rPr lang="el-GR" dirty="0"/>
              <a:t>Εάν δεν υπάρχει, δημιουργείται η εγγραφή και ο νικητής εκχωρείται στη θέση του </a:t>
            </a:r>
            <a:r>
              <a:rPr lang="en-US" dirty="0"/>
              <a:t>Player1 </a:t>
            </a:r>
            <a:r>
              <a:rPr lang="el-GR" dirty="0"/>
              <a:t>για το συγκεκριμένο </a:t>
            </a:r>
            <a:r>
              <a:rPr lang="en-US" dirty="0"/>
              <a:t>match.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41516815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23D5C91-A763-4D78-BA5E-F5C143C61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Περιορισμοί</a:t>
            </a:r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05BD1DEB-D5D7-943A-B958-C85F49D6E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557" y="1690688"/>
            <a:ext cx="8392886" cy="454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7648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CC7A40E-C537-4011-A180-CD759E870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 dirty="0"/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127D426F-CDF2-46AD-BAF4-08F4B6B537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114" y="0"/>
            <a:ext cx="12308114" cy="6858000"/>
          </a:xfrm>
        </p:spPr>
      </p:pic>
    </p:spTree>
    <p:extLst>
      <p:ext uri="{BB962C8B-B14F-4D97-AF65-F5344CB8AC3E}">
        <p14:creationId xmlns:p14="http://schemas.microsoft.com/office/powerpoint/2010/main" val="3576119532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2661</TotalTime>
  <Words>477</Words>
  <Application>Microsoft Office PowerPoint</Application>
  <PresentationFormat>Ευρεία οθόνη</PresentationFormat>
  <Paragraphs>87</Paragraphs>
  <Slides>22</Slides>
  <Notes>1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4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ui-monospace</vt:lpstr>
      <vt:lpstr>Θέμα του Office</vt:lpstr>
      <vt:lpstr>Παρουσίαση του PowerPoint</vt:lpstr>
      <vt:lpstr>Στόχος Προγραμματιστικού Project</vt:lpstr>
      <vt:lpstr>Διαχωρισμός του Προβλήματος σε Ενότητες</vt:lpstr>
      <vt:lpstr>Άντληση Δεδομένων</vt:lpstr>
      <vt:lpstr>Άντληση Δεδομένων (1/3)</vt:lpstr>
      <vt:lpstr>Άντληση Δεδομένων (2/3)</vt:lpstr>
      <vt:lpstr>Άντληση Δεδομένων (3/3)</vt:lpstr>
      <vt:lpstr>Καταχώριση στη Βάση</vt:lpstr>
      <vt:lpstr>Ομαδοποίηση Παικτών – Κλήρωση</vt:lpstr>
      <vt:lpstr>Κύρια Σελίδα</vt:lpstr>
      <vt:lpstr>Αρχικοποίηση</vt:lpstr>
      <vt:lpstr>Συντελεστές</vt:lpstr>
      <vt:lpstr>Παίκτες</vt:lpstr>
      <vt:lpstr>Παίκτες</vt:lpstr>
      <vt:lpstr>Αγώνες (1/2)</vt:lpstr>
      <vt:lpstr>Αλγόριθμος Σχηματισμού Id Αγώνων</vt:lpstr>
      <vt:lpstr>Αλγόριθμος Σχηματισμού Δέντρου Τουρνουά</vt:lpstr>
      <vt:lpstr>Αγώνες (2/2)</vt:lpstr>
      <vt:lpstr>Score</vt:lpstr>
      <vt:lpstr>Επεξήγηση Αλγορίθμου στη Score Page</vt:lpstr>
      <vt:lpstr>Περιορισμοί</vt:lpstr>
      <vt:lpstr>Παρουσίαση του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Παρουσίαση του PowerPoint</dc:title>
  <dc:creator>John</dc:creator>
  <cp:lastModifiedBy>John</cp:lastModifiedBy>
  <cp:revision>190</cp:revision>
  <dcterms:created xsi:type="dcterms:W3CDTF">2020-01-12T09:06:31Z</dcterms:created>
  <dcterms:modified xsi:type="dcterms:W3CDTF">2022-06-25T11:24:37Z</dcterms:modified>
</cp:coreProperties>
</file>